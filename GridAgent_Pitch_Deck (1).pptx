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68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40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461092"/>
            <a:ext cx="6429375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6218" b="1" kern="0" spc="-2" dirty="0">
                <a:solidFill>
                  <a:srgbClr val="FFFFFF"/>
                </a:solidFill>
              </a:rPr>
              <a:t>GridAgent</a:t>
            </a:r>
            <a:r>
              <a:rPr lang="en-US" sz="6218" b="1" kern="0" spc="-2" dirty="0">
                <a:solidFill>
                  <a:srgbClr val="00E5FF"/>
                </a:solidFill>
              </a:rPr>
              <a:t>.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571500" y="2461217"/>
            <a:ext cx="6429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A0A0A0"/>
                </a:solidFill>
              </a:rPr>
              <a:t>AI Agents for US Power and Energy Markets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771525" y="3202381"/>
            <a:ext cx="42862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Turning complex power market data into an AI-ready Intelligence layer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846070" y="4579144"/>
            <a:ext cx="86930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555555"/>
                </a:solidFill>
              </a:rPr>
              <a:t>FEB 2026 // V1.0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1025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110259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64293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kern="0" spc="-1" dirty="0">
                <a:solidFill>
                  <a:srgbClr val="FFFFFF"/>
                </a:solidFill>
              </a:rPr>
              <a:t>The Grid Can't Wait—Decades of Growth Compressed Into Years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42950" y="1297260"/>
            <a:ext cx="78295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A0A0A0"/>
                </a:solidFill>
              </a:rPr>
              <a:t>Electricity demand is rising faster than at any point in modern grid history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916981"/>
            <a:ext cx="171450" cy="171450"/>
          </a:xfrm>
          <a:prstGeom prst="ellipse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78" y="1959843"/>
            <a:ext cx="64294" cy="857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50" y="1888406"/>
            <a:ext cx="4257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AI, Data Centers &amp; Electrification</a:t>
            </a:r>
            <a:r>
              <a:rPr lang="en-US" sz="1050" dirty="0">
                <a:solidFill>
                  <a:srgbClr val="E0E0E0"/>
                </a:solidFill>
              </a:rPr>
              <a:t> are driving unprecedented demand growth, reshaping load profiles overnight.</a:t>
            </a:r>
            <a:endParaRPr lang="en-US" sz="987" dirty="0"/>
          </a:p>
        </p:txBody>
      </p:sp>
      <p:sp>
        <p:nvSpPr>
          <p:cNvPr id="10" name="Shape 6"/>
          <p:cNvSpPr/>
          <p:nvPr/>
        </p:nvSpPr>
        <p:spPr>
          <a:xfrm>
            <a:off x="571500" y="2559918"/>
            <a:ext cx="171450" cy="171450"/>
          </a:xfrm>
          <a:prstGeom prst="ellipse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" y="2602781"/>
            <a:ext cx="85725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7250" y="2531343"/>
            <a:ext cx="4257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Decades of historical electricity demand growth are now </a:t>
            </a:r>
            <a:r>
              <a:rPr lang="en-US" sz="987" b="1" dirty="0">
                <a:solidFill>
                  <a:srgbClr val="FFFFFF"/>
                </a:solidFill>
              </a:rPr>
              <a:t>compressing into just a few years</a:t>
            </a:r>
            <a:r>
              <a:rPr lang="en-US" sz="1050" dirty="0">
                <a:solidFill>
                  <a:srgbClr val="E0E0E0"/>
                </a:solidFill>
              </a:rPr>
              <a:t>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71500" y="3202856"/>
            <a:ext cx="171450" cy="171450"/>
          </a:xfrm>
          <a:prstGeom prst="ellipse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647" y="3245718"/>
            <a:ext cx="107156" cy="85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7250" y="3174281"/>
            <a:ext cx="4257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Rapid advances in generation, transmission, and storage are </a:t>
            </a:r>
            <a:r>
              <a:rPr lang="en-US" sz="987" b="1" dirty="0">
                <a:solidFill>
                  <a:srgbClr val="FFFFFF"/>
                </a:solidFill>
              </a:rPr>
              <a:t>increasing grid complexity</a:t>
            </a:r>
            <a:r>
              <a:rPr lang="en-US" sz="1050" dirty="0">
                <a:solidFill>
                  <a:srgbClr val="E0E0E0"/>
                </a:solidFill>
              </a:rPr>
              <a:t> exponentially.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71500" y="4118372"/>
            <a:ext cx="4543425" cy="596503"/>
          </a:xfrm>
          <a:prstGeom prst="rect">
            <a:avLst/>
          </a:prstGeom>
          <a:solidFill>
            <a:srgbClr val="00E5FF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1"/>
          <p:cNvSpPr/>
          <p:nvPr/>
        </p:nvSpPr>
        <p:spPr>
          <a:xfrm>
            <a:off x="571500" y="4118372"/>
            <a:ext cx="14288" cy="59650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/>
          <p:nvPr/>
        </p:nvSpPr>
        <p:spPr>
          <a:xfrm>
            <a:off x="714375" y="4261247"/>
            <a:ext cx="42576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E5FF"/>
                </a:solidFill>
              </a:rPr>
              <a:t>"Projects stall not because the need isn't clear, but because the system cannot move at the speed the next phase of grid evolution demands."</a:t>
            </a:r>
            <a:endParaRPr lang="en-US" sz="784" dirty="0"/>
          </a:p>
        </p:txBody>
      </p:sp>
      <p:sp>
        <p:nvSpPr>
          <p:cNvPr id="19" name="Shape 13"/>
          <p:cNvSpPr/>
          <p:nvPr/>
        </p:nvSpPr>
        <p:spPr>
          <a:xfrm>
            <a:off x="5543550" y="1888406"/>
            <a:ext cx="3028950" cy="2826469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5757863" y="2324733"/>
            <a:ext cx="2600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A0A0A0"/>
                </a:solidFill>
              </a:rPr>
              <a:t>Demand Growth Velocity</a:t>
            </a:r>
            <a:endParaRPr lang="en-US" sz="621" dirty="0"/>
          </a:p>
        </p:txBody>
      </p:sp>
      <p:sp>
        <p:nvSpPr>
          <p:cNvPr id="21" name="Text 15"/>
          <p:cNvSpPr/>
          <p:nvPr/>
        </p:nvSpPr>
        <p:spPr>
          <a:xfrm>
            <a:off x="5757863" y="2730140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Historical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6436519" y="2655131"/>
            <a:ext cx="1921669" cy="2857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6507956" y="2739963"/>
            <a:ext cx="6297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Steady Growth</a:t>
            </a:r>
            <a:endParaRPr lang="en-US" sz="584" dirty="0"/>
          </a:p>
        </p:txBody>
      </p:sp>
      <p:sp>
        <p:nvSpPr>
          <p:cNvPr id="24" name="Text 18"/>
          <p:cNvSpPr/>
          <p:nvPr/>
        </p:nvSpPr>
        <p:spPr>
          <a:xfrm>
            <a:off x="5757863" y="3158765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Projected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6436519" y="3083756"/>
            <a:ext cx="1921669" cy="2857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7313581" y="3168588"/>
            <a:ext cx="9731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1115"/>
                </a:solidFill>
              </a:rPr>
              <a:t>COMPRESSED DEMAND</a:t>
            </a:r>
            <a:endParaRPr lang="en-US" sz="584" dirty="0"/>
          </a:p>
        </p:txBody>
      </p:sp>
      <p:sp>
        <p:nvSpPr>
          <p:cNvPr id="27" name="Text 21"/>
          <p:cNvSpPr/>
          <p:nvPr/>
        </p:nvSpPr>
        <p:spPr>
          <a:xfrm>
            <a:off x="5757863" y="3805275"/>
            <a:ext cx="2600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A0A0A0"/>
                </a:solidFill>
              </a:rPr>
              <a:t>System Response Speed</a:t>
            </a:r>
            <a:endParaRPr lang="en-US" sz="621" dirty="0"/>
          </a:p>
        </p:txBody>
      </p:sp>
      <p:sp>
        <p:nvSpPr>
          <p:cNvPr id="28" name="Text 22"/>
          <p:cNvSpPr/>
          <p:nvPr/>
        </p:nvSpPr>
        <p:spPr>
          <a:xfrm>
            <a:off x="5757863" y="4067808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Capacity</a:t>
            </a:r>
            <a:endParaRPr lang="en-US" sz="727" dirty="0"/>
          </a:p>
        </p:txBody>
      </p:sp>
      <p:sp>
        <p:nvSpPr>
          <p:cNvPr id="29" name="Shape 23"/>
          <p:cNvSpPr/>
          <p:nvPr/>
        </p:nvSpPr>
        <p:spPr>
          <a:xfrm>
            <a:off x="6436519" y="3992798"/>
            <a:ext cx="1921669" cy="285750"/>
          </a:xfrm>
          <a:prstGeom prst="rect">
            <a:avLst/>
          </a:prstGeom>
          <a:solidFill>
            <a:srgbClr val="FF0000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/>
          <p:nvPr/>
        </p:nvSpPr>
        <p:spPr>
          <a:xfrm>
            <a:off x="6507956" y="4077630"/>
            <a:ext cx="39511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4444"/>
                </a:solidFill>
              </a:rPr>
              <a:t>LAGGING</a:t>
            </a:r>
            <a:endParaRPr lang="en-US" sz="5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118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911889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FFFFFF"/>
                </a:solidFill>
              </a:rPr>
              <a:t>The Interconnection Crisis—2,200 GW Stuck in Queues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1145846"/>
            <a:ext cx="7829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</a:rPr>
              <a:t>The primary bottleneck for the energy transition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626264"/>
            <a:ext cx="3786188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7717" kern="0" spc="-3" dirty="0">
                <a:solidFill>
                  <a:srgbClr val="FF4444"/>
                </a:solidFill>
              </a:rPr>
              <a:t>2,200 GW</a:t>
            </a:r>
            <a:endParaRPr lang="en-US" sz="7717" dirty="0"/>
          </a:p>
        </p:txBody>
      </p:sp>
      <p:sp>
        <p:nvSpPr>
          <p:cNvPr id="8" name="Text 5"/>
          <p:cNvSpPr/>
          <p:nvPr/>
        </p:nvSpPr>
        <p:spPr>
          <a:xfrm>
            <a:off x="571500" y="3669376"/>
            <a:ext cx="2396421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Stuck in Interconnection Queues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3139371" y="3767603"/>
            <a:ext cx="121831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444"/>
                </a:solidFill>
              </a:rPr>
              <a:t>+375% INCREASE SINCE 2010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571500" y="4223017"/>
            <a:ext cx="3786188" cy="42862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308742"/>
            <a:ext cx="3600450" cy="242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6313" y="1626264"/>
            <a:ext cx="3786188" cy="17859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A0A0A0"/>
                </a:solidFill>
              </a:rPr>
              <a:t>Systemic Failures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4786313" y="1935231"/>
            <a:ext cx="128588" cy="128588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4786313" y="1935231"/>
            <a:ext cx="1285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!</a:t>
            </a:r>
            <a:endParaRPr lang="en-US" sz="485" dirty="0"/>
          </a:p>
        </p:txBody>
      </p:sp>
      <p:sp>
        <p:nvSpPr>
          <p:cNvPr id="15" name="Text 11"/>
          <p:cNvSpPr/>
          <p:nvPr/>
        </p:nvSpPr>
        <p:spPr>
          <a:xfrm>
            <a:off x="4986338" y="1912014"/>
            <a:ext cx="11599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3-5 Year Timelines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4786313" y="2115610"/>
            <a:ext cx="3786188" cy="155377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Multiple study phases and re-studies delay projects indefinitely.</a:t>
            </a:r>
            <a:endParaRPr lang="en-US" sz="834" dirty="0"/>
          </a:p>
        </p:txBody>
      </p:sp>
      <p:sp>
        <p:nvSpPr>
          <p:cNvPr id="17" name="Shape 13"/>
          <p:cNvSpPr/>
          <p:nvPr/>
        </p:nvSpPr>
        <p:spPr>
          <a:xfrm>
            <a:off x="4786313" y="2379929"/>
            <a:ext cx="128588" cy="128588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4786313" y="2379929"/>
            <a:ext cx="1285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!</a:t>
            </a:r>
            <a:endParaRPr lang="en-US" sz="485" dirty="0"/>
          </a:p>
        </p:txBody>
      </p:sp>
      <p:sp>
        <p:nvSpPr>
          <p:cNvPr id="19" name="Text 15"/>
          <p:cNvSpPr/>
          <p:nvPr/>
        </p:nvSpPr>
        <p:spPr>
          <a:xfrm>
            <a:off x="4986338" y="2356712"/>
            <a:ext cx="11976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Manual Workflows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4786313" y="2560309"/>
            <a:ext cx="3786188" cy="155377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Lack of automation across stakeholders creates bottlenecks.</a:t>
            </a:r>
            <a:endParaRPr lang="en-US" sz="834" dirty="0"/>
          </a:p>
        </p:txBody>
      </p:sp>
      <p:sp>
        <p:nvSpPr>
          <p:cNvPr id="21" name="Shape 17"/>
          <p:cNvSpPr/>
          <p:nvPr/>
        </p:nvSpPr>
        <p:spPr>
          <a:xfrm>
            <a:off x="4786313" y="2824628"/>
            <a:ext cx="128588" cy="128588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4786313" y="2824628"/>
            <a:ext cx="1285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!</a:t>
            </a:r>
            <a:endParaRPr lang="en-US" sz="485" dirty="0"/>
          </a:p>
        </p:txBody>
      </p:sp>
      <p:sp>
        <p:nvSpPr>
          <p:cNvPr id="23" name="Text 19"/>
          <p:cNvSpPr/>
          <p:nvPr/>
        </p:nvSpPr>
        <p:spPr>
          <a:xfrm>
            <a:off x="4986338" y="2801410"/>
            <a:ext cx="11627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Opaque Processes</a:t>
            </a:r>
            <a:endParaRPr lang="en-US" sz="885" dirty="0"/>
          </a:p>
        </p:txBody>
      </p:sp>
      <p:sp>
        <p:nvSpPr>
          <p:cNvPr id="24" name="Text 20"/>
          <p:cNvSpPr/>
          <p:nvPr/>
        </p:nvSpPr>
        <p:spPr>
          <a:xfrm>
            <a:off x="4786313" y="3005007"/>
            <a:ext cx="3786188" cy="155377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Developers lack visibility into capacity and upgrade costs.</a:t>
            </a:r>
            <a:endParaRPr lang="en-US" sz="834" dirty="0"/>
          </a:p>
        </p:txBody>
      </p:sp>
      <p:sp>
        <p:nvSpPr>
          <p:cNvPr id="25" name="Shape 21"/>
          <p:cNvSpPr/>
          <p:nvPr/>
        </p:nvSpPr>
        <p:spPr>
          <a:xfrm>
            <a:off x="4786313" y="3474709"/>
            <a:ext cx="3786188" cy="1139428"/>
          </a:xfrm>
          <a:prstGeom prst="rect">
            <a:avLst/>
          </a:prstGeom>
          <a:solidFill>
            <a:srgbClr val="FF4444">
              <a:alpha val="10000"/>
            </a:srgbClr>
          </a:solidFill>
          <a:ln w="9144">
            <a:solidFill>
              <a:srgbClr val="F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2"/>
          <p:cNvSpPr/>
          <p:nvPr/>
        </p:nvSpPr>
        <p:spPr>
          <a:xfrm>
            <a:off x="4929188" y="3617584"/>
            <a:ext cx="3500438" cy="17859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FF8888"/>
                </a:solidFill>
              </a:rPr>
              <a:t>Market Impact</a:t>
            </a:r>
            <a:endParaRPr lang="en-US" sz="727" dirty="0"/>
          </a:p>
        </p:txBody>
      </p:sp>
      <p:sp>
        <p:nvSpPr>
          <p:cNvPr id="27" name="Text 23"/>
          <p:cNvSpPr/>
          <p:nvPr/>
        </p:nvSpPr>
        <p:spPr>
          <a:xfrm>
            <a:off x="4929188" y="3903334"/>
            <a:ext cx="350043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8888"/>
                </a:solidFill>
              </a:rPr>
              <a:t>Upgrade cost uncertainty kills projects. New renewables cannot connect.</a:t>
            </a:r>
            <a:endParaRPr lang="en-US" sz="784" dirty="0"/>
          </a:p>
        </p:txBody>
      </p:sp>
      <p:sp>
        <p:nvSpPr>
          <p:cNvPr id="28" name="Text 24"/>
          <p:cNvSpPr/>
          <p:nvPr/>
        </p:nvSpPr>
        <p:spPr>
          <a:xfrm>
            <a:off x="4929188" y="4321243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</a:rPr>
              <a:t>&gt; Digital solutions can accelerate timelines 40-60%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260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0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580430"/>
          </a:xfrm>
          <a:prstGeom prst="rect">
            <a:avLst/>
          </a:prstGeom>
          <a:solidFill>
            <a:srgbClr val="A0A0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16" b="1" kern="0" spc="-1" dirty="0">
                <a:solidFill>
                  <a:srgbClr val="FFFFFF"/>
                </a:solidFill>
              </a:rPr>
              <a:t>The Intelligence Gap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742950" y="814388"/>
            <a:ext cx="7829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</a:rPr>
              <a:t>Not a Data Problem, But a Decision-Making Problem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294805"/>
            <a:ext cx="2571750" cy="3256099"/>
          </a:xfrm>
          <a:prstGeom prst="rect">
            <a:avLst/>
          </a:prstGeom>
          <a:solidFill>
            <a:srgbClr val="FFFFFF">
              <a:alpha val="1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14375" y="1437680"/>
            <a:ext cx="2276484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The Reality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714375" y="1794867"/>
            <a:ext cx="227648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CCCCCC"/>
                </a:solidFill>
              </a:rPr>
              <a:t>Data Abundance</a:t>
            </a:r>
            <a:endParaRPr lang="en-US" sz="1269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163998"/>
            <a:ext cx="100013" cy="114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0113" y="2143460"/>
            <a:ext cx="20366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Terabytes of grid data generated daily</a:t>
            </a:r>
            <a:endParaRPr lang="en-US" sz="83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504219"/>
            <a:ext cx="85725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5825" y="2405993"/>
            <a:ext cx="210503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Interconnection queues &amp; cluster studies</a:t>
            </a:r>
            <a:endParaRPr lang="en-US" sz="834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844440"/>
            <a:ext cx="142875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2975" y="2823902"/>
            <a:ext cx="16349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Stakeholder materials &amp; tariffs</a:t>
            </a:r>
            <a:endParaRPr lang="en-US" sz="834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106973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086435"/>
            <a:ext cx="17042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Siloed in isolated business units</a:t>
            </a:r>
            <a:endParaRPr lang="en-US" sz="834" dirty="0"/>
          </a:p>
        </p:txBody>
      </p:sp>
      <p:sp>
        <p:nvSpPr>
          <p:cNvPr id="18" name="Shape 11"/>
          <p:cNvSpPr/>
          <p:nvPr/>
        </p:nvSpPr>
        <p:spPr>
          <a:xfrm>
            <a:off x="3276609" y="1294805"/>
            <a:ext cx="2576522" cy="3256099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2"/>
          <p:cNvSpPr/>
          <p:nvPr/>
        </p:nvSpPr>
        <p:spPr>
          <a:xfrm>
            <a:off x="3424228" y="1437680"/>
            <a:ext cx="2281228" cy="214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3"/>
          <p:cNvSpPr/>
          <p:nvPr/>
        </p:nvSpPr>
        <p:spPr>
          <a:xfrm>
            <a:off x="3424228" y="1644848"/>
            <a:ext cx="2281228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4"/>
          <p:cNvSpPr/>
          <p:nvPr/>
        </p:nvSpPr>
        <p:spPr>
          <a:xfrm>
            <a:off x="3424228" y="1437680"/>
            <a:ext cx="2281228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E5FF"/>
                </a:solidFill>
              </a:rPr>
              <a:t>The Gap</a:t>
            </a:r>
            <a:endParaRPr lang="en-US" sz="727" dirty="0"/>
          </a:p>
        </p:txBody>
      </p:sp>
      <p:sp>
        <p:nvSpPr>
          <p:cNvPr id="22" name="Text 15"/>
          <p:cNvSpPr/>
          <p:nvPr/>
        </p:nvSpPr>
        <p:spPr>
          <a:xfrm>
            <a:off x="3424228" y="1787723"/>
            <a:ext cx="228122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The Missing Link</a:t>
            </a:r>
            <a:endParaRPr lang="en-US" sz="1269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235" y="2407779"/>
            <a:ext cx="357188" cy="2857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424228" y="2836404"/>
            <a:ext cx="228122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Critical sources are </a:t>
            </a:r>
            <a:r>
              <a:rPr lang="en-US" sz="885" b="1" dirty="0">
                <a:solidFill>
                  <a:srgbClr val="00E5FF"/>
                </a:solidFill>
              </a:rPr>
              <a:t>fragmented</a:t>
            </a:r>
            <a:r>
              <a:rPr lang="en-US" sz="942" dirty="0">
                <a:solidFill>
                  <a:srgbClr val="FFFFFF"/>
                </a:solidFill>
              </a:rPr>
              <a:t> and </a:t>
            </a:r>
            <a:r>
              <a:rPr lang="en-US" sz="885" b="1" dirty="0">
                <a:solidFill>
                  <a:srgbClr val="00E5FF"/>
                </a:solidFill>
              </a:rPr>
              <a:t>not AI-readable</a:t>
            </a:r>
            <a:r>
              <a:rPr lang="en-US" sz="942" dirty="0">
                <a:solidFill>
                  <a:srgbClr val="FFFFFF"/>
                </a:solidFill>
              </a:rPr>
              <a:t>.</a:t>
            </a:r>
            <a:endParaRPr lang="en-US" sz="942" dirty="0"/>
          </a:p>
        </p:txBody>
      </p:sp>
      <p:sp>
        <p:nvSpPr>
          <p:cNvPr id="25" name="Text 17"/>
          <p:cNvSpPr/>
          <p:nvPr/>
        </p:nvSpPr>
        <p:spPr>
          <a:xfrm>
            <a:off x="3424228" y="3793666"/>
            <a:ext cx="22812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General chatbots cannot connect complex power market data into actionable insight.</a:t>
            </a:r>
            <a:endParaRPr lang="en-US" sz="834" dirty="0"/>
          </a:p>
        </p:txBody>
      </p:sp>
      <p:sp>
        <p:nvSpPr>
          <p:cNvPr id="26" name="Shape 18"/>
          <p:cNvSpPr/>
          <p:nvPr/>
        </p:nvSpPr>
        <p:spPr>
          <a:xfrm>
            <a:off x="5991206" y="1294805"/>
            <a:ext cx="2581266" cy="3256099"/>
          </a:xfrm>
          <a:prstGeom prst="rect">
            <a:avLst/>
          </a:prstGeom>
          <a:solidFill>
            <a:srgbClr val="FFFFFF">
              <a:alpha val="1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19"/>
          <p:cNvSpPr/>
          <p:nvPr/>
        </p:nvSpPr>
        <p:spPr>
          <a:xfrm>
            <a:off x="6143625" y="1437680"/>
            <a:ext cx="2286000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FF8888"/>
                </a:solidFill>
              </a:rPr>
              <a:t>The Consequence</a:t>
            </a:r>
            <a:endParaRPr lang="en-US" sz="727" dirty="0"/>
          </a:p>
        </p:txBody>
      </p:sp>
      <p:sp>
        <p:nvSpPr>
          <p:cNvPr id="28" name="Text 20"/>
          <p:cNvSpPr/>
          <p:nvPr/>
        </p:nvSpPr>
        <p:spPr>
          <a:xfrm>
            <a:off x="6143625" y="1794867"/>
            <a:ext cx="2286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4444"/>
                </a:solidFill>
              </a:rPr>
              <a:t>Operational Paralysis</a:t>
            </a:r>
            <a:endParaRPr lang="en-US" sz="1269" dirty="0"/>
          </a:p>
        </p:txBody>
      </p:sp>
      <p:sp>
        <p:nvSpPr>
          <p:cNvPr id="29" name="Shape 21"/>
          <p:cNvSpPr/>
          <p:nvPr/>
        </p:nvSpPr>
        <p:spPr>
          <a:xfrm>
            <a:off x="6143625" y="2143460"/>
            <a:ext cx="2286000" cy="482203"/>
          </a:xfrm>
          <a:prstGeom prst="rect">
            <a:avLst/>
          </a:prstGeom>
          <a:solidFill>
            <a:srgbClr val="FF4444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2"/>
          <p:cNvSpPr/>
          <p:nvPr/>
        </p:nvSpPr>
        <p:spPr>
          <a:xfrm>
            <a:off x="6143625" y="2143460"/>
            <a:ext cx="14288" cy="482203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9350" y="2250616"/>
            <a:ext cx="128588" cy="1143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415088" y="2229185"/>
            <a:ext cx="18152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8888"/>
                </a:solidFill>
              </a:rPr>
              <a:t>Billions in project capital exposed</a:t>
            </a:r>
            <a:endParaRPr lang="en-US" sz="834" dirty="0"/>
          </a:p>
        </p:txBody>
      </p:sp>
      <p:sp>
        <p:nvSpPr>
          <p:cNvPr id="33" name="Text 24"/>
          <p:cNvSpPr/>
          <p:nvPr/>
        </p:nvSpPr>
        <p:spPr>
          <a:xfrm>
            <a:off x="6229350" y="2384561"/>
            <a:ext cx="7530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8888"/>
                </a:solidFill>
              </a:rPr>
              <a:t>to uncertainty</a:t>
            </a:r>
            <a:endParaRPr lang="en-US" sz="834" dirty="0"/>
          </a:p>
        </p:txBody>
      </p:sp>
      <p:sp>
        <p:nvSpPr>
          <p:cNvPr id="34" name="Shape 25"/>
          <p:cNvSpPr/>
          <p:nvPr/>
        </p:nvSpPr>
        <p:spPr>
          <a:xfrm>
            <a:off x="6143625" y="2732819"/>
            <a:ext cx="2286000" cy="482203"/>
          </a:xfrm>
          <a:prstGeom prst="rect">
            <a:avLst/>
          </a:prstGeom>
          <a:solidFill>
            <a:srgbClr val="FF4444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26"/>
          <p:cNvSpPr/>
          <p:nvPr/>
        </p:nvSpPr>
        <p:spPr>
          <a:xfrm>
            <a:off x="6143625" y="2732819"/>
            <a:ext cx="14288" cy="482203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9350" y="2839975"/>
            <a:ext cx="85725" cy="1143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372225" y="2818544"/>
            <a:ext cx="17201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8888"/>
                </a:solidFill>
              </a:rPr>
              <a:t>Interconnection queues remain</a:t>
            </a:r>
            <a:endParaRPr lang="en-US" sz="834" dirty="0"/>
          </a:p>
        </p:txBody>
      </p:sp>
      <p:sp>
        <p:nvSpPr>
          <p:cNvPr id="38" name="Text 28"/>
          <p:cNvSpPr/>
          <p:nvPr/>
        </p:nvSpPr>
        <p:spPr>
          <a:xfrm>
            <a:off x="6229350" y="2973921"/>
            <a:ext cx="4421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8888"/>
                </a:solidFill>
              </a:rPr>
              <a:t>jammed</a:t>
            </a:r>
            <a:endParaRPr lang="en-US" sz="834" dirty="0"/>
          </a:p>
        </p:txBody>
      </p:sp>
      <p:sp>
        <p:nvSpPr>
          <p:cNvPr id="39" name="Shape 29"/>
          <p:cNvSpPr/>
          <p:nvPr/>
        </p:nvSpPr>
        <p:spPr>
          <a:xfrm>
            <a:off x="6143625" y="3322179"/>
            <a:ext cx="2286000" cy="482203"/>
          </a:xfrm>
          <a:prstGeom prst="rect">
            <a:avLst/>
          </a:prstGeom>
          <a:solidFill>
            <a:srgbClr val="FF4444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0"/>
          <p:cNvSpPr/>
          <p:nvPr/>
        </p:nvSpPr>
        <p:spPr>
          <a:xfrm>
            <a:off x="6143625" y="3322179"/>
            <a:ext cx="14288" cy="482203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9350" y="3429335"/>
            <a:ext cx="114300" cy="11430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400800" y="3407904"/>
            <a:ext cx="17061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8888"/>
                </a:solidFill>
              </a:rPr>
              <a:t>Time-to-power continues to lag</a:t>
            </a:r>
            <a:endParaRPr lang="en-US" sz="834" dirty="0"/>
          </a:p>
        </p:txBody>
      </p:sp>
      <p:sp>
        <p:nvSpPr>
          <p:cNvPr id="43" name="Text 32"/>
          <p:cNvSpPr/>
          <p:nvPr/>
        </p:nvSpPr>
        <p:spPr>
          <a:xfrm>
            <a:off x="6229350" y="3563280"/>
            <a:ext cx="4467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8888"/>
                </a:solidFill>
              </a:rPr>
              <a:t>demand</a:t>
            </a:r>
            <a:endParaRPr lang="en-US" sz="834" dirty="0"/>
          </a:p>
        </p:txBody>
      </p:sp>
      <p:sp>
        <p:nvSpPr>
          <p:cNvPr id="44" name="Shape 33"/>
          <p:cNvSpPr/>
          <p:nvPr/>
        </p:nvSpPr>
        <p:spPr>
          <a:xfrm>
            <a:off x="6143625" y="3911538"/>
            <a:ext cx="2286000" cy="482203"/>
          </a:xfrm>
          <a:prstGeom prst="rect">
            <a:avLst/>
          </a:prstGeom>
          <a:solidFill>
            <a:srgbClr val="FF4444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34"/>
          <p:cNvSpPr/>
          <p:nvPr/>
        </p:nvSpPr>
        <p:spPr>
          <a:xfrm>
            <a:off x="6143625" y="3911538"/>
            <a:ext cx="14288" cy="482203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9350" y="4018694"/>
            <a:ext cx="114300" cy="11430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400800" y="3997263"/>
            <a:ext cx="18083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8888"/>
                </a:solidFill>
              </a:rPr>
              <a:t>Traditional approaches no longer</a:t>
            </a:r>
            <a:endParaRPr lang="en-US" sz="834" dirty="0"/>
          </a:p>
        </p:txBody>
      </p:sp>
      <p:sp>
        <p:nvSpPr>
          <p:cNvPr id="48" name="Text 36"/>
          <p:cNvSpPr/>
          <p:nvPr/>
        </p:nvSpPr>
        <p:spPr>
          <a:xfrm>
            <a:off x="6229350" y="4152640"/>
            <a:ext cx="2676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8888"/>
                </a:solidFill>
              </a:rPr>
              <a:t>scale</a:t>
            </a:r>
            <a:endParaRPr lang="en-US" sz="834" dirty="0"/>
          </a:p>
        </p:txBody>
      </p:sp>
      <p:sp>
        <p:nvSpPr>
          <p:cNvPr id="49" name="Shape 37"/>
          <p:cNvSpPr/>
          <p:nvPr/>
        </p:nvSpPr>
        <p:spPr>
          <a:xfrm>
            <a:off x="571500" y="4750929"/>
            <a:ext cx="8001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38"/>
          <p:cNvSpPr/>
          <p:nvPr/>
        </p:nvSpPr>
        <p:spPr>
          <a:xfrm>
            <a:off x="571500" y="4750929"/>
            <a:ext cx="28575" cy="460772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39"/>
          <p:cNvSpPr/>
          <p:nvPr/>
        </p:nvSpPr>
        <p:spPr>
          <a:xfrm>
            <a:off x="714375" y="4913449"/>
            <a:ext cx="9413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E5FF"/>
                </a:solidFill>
              </a:rPr>
              <a:t>THE OPPORTUNITY</a:t>
            </a:r>
            <a:endParaRPr lang="en-US" sz="683" dirty="0"/>
          </a:p>
        </p:txBody>
      </p:sp>
      <p:sp>
        <p:nvSpPr>
          <p:cNvPr id="52" name="Text 40"/>
          <p:cNvSpPr/>
          <p:nvPr/>
        </p:nvSpPr>
        <p:spPr>
          <a:xfrm>
            <a:off x="1798579" y="4893804"/>
            <a:ext cx="49644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GridAgent sees closing this intelligence gap as the industry's greatest opportunity.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21438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1214382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FFFFFF"/>
                </a:solidFill>
              </a:rPr>
              <a:t>Introducing GridAgent—The AI-Powered Intelligence Layer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1202996"/>
            <a:ext cx="64293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A0A0A0"/>
                </a:solidFill>
              </a:rPr>
              <a:t>An AI agent platform that automates workflows for US power markets by combining specialized AI agents with real-time grid data.</a:t>
            </a:r>
            <a:endParaRPr lang="en-US" sz="1159" dirty="0"/>
          </a:p>
        </p:txBody>
      </p:sp>
      <p:sp>
        <p:nvSpPr>
          <p:cNvPr id="7" name="Shape 4"/>
          <p:cNvSpPr/>
          <p:nvPr/>
        </p:nvSpPr>
        <p:spPr>
          <a:xfrm>
            <a:off x="4429125" y="3243235"/>
            <a:ext cx="28575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4564856" y="3107503"/>
            <a:ext cx="14288" cy="28575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429125" y="310750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71500" y="1785882"/>
            <a:ext cx="3957638" cy="1421634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00088" y="1914469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</a:rPr>
              <a:t>01</a:t>
            </a:r>
            <a:endParaRPr lang="en-US" sz="1193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669" y="1946616"/>
            <a:ext cx="192881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0088" y="2234152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Interconnection Queue Tracking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00088" y="2485969"/>
            <a:ext cx="37004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Automates interconnection queue analysis, grid capacity assessment, and stakeholder coordination for faster, data-driven decisions.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4614863" y="1785882"/>
            <a:ext cx="3957638" cy="1421634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743450" y="1914469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</a:rPr>
              <a:t>02</a:t>
            </a:r>
            <a:endParaRPr lang="en-US" sz="1193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463" y="1946616"/>
            <a:ext cx="1714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43450" y="2234152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Generation Interconnection Studies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743450" y="2485969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Uses AI to analyze cluster results, readiness, and predict withdrawals—delivering actionable interconnection insights in minutes.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571500" y="3293241"/>
            <a:ext cx="3957638" cy="1421634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700088" y="3421828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</a:rPr>
              <a:t>03</a:t>
            </a:r>
            <a:endParaRPr lang="en-US" sz="1193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0531" y="3453975"/>
            <a:ext cx="150019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0088" y="3741511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Data Integration &amp; Analytics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00088" y="3993328"/>
            <a:ext cx="37004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Unified platform aggregating real-time updates across ISOs, providing a single source of truth and removing manual reconciliation.</a:t>
            </a:r>
            <a:endParaRPr lang="en-US" sz="834" dirty="0"/>
          </a:p>
        </p:txBody>
      </p:sp>
      <p:sp>
        <p:nvSpPr>
          <p:cNvPr id="25" name="Shape 19"/>
          <p:cNvSpPr/>
          <p:nvPr/>
        </p:nvSpPr>
        <p:spPr>
          <a:xfrm>
            <a:off x="4614863" y="3293241"/>
            <a:ext cx="3957638" cy="1421634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4743450" y="3421828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</a:rPr>
              <a:t>04</a:t>
            </a:r>
            <a:endParaRPr lang="en-US" sz="1193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463" y="3453975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43450" y="3741511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Regulatory &amp; Compliance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743450" y="3993328"/>
            <a:ext cx="370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Automated tariff interpretation and FERC order tracking in real time to keep clients aligned with current regulations.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18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58185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FFFFFF"/>
                </a:solidFill>
              </a:rPr>
              <a:t>From Siloed Data to Intelligent Operations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15811"/>
            <a:ext cx="7829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</a:rPr>
              <a:t>GridAgent transforms fragmented power market data into an AI-ready intelligent layer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84607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8675" y="1153353"/>
            <a:ext cx="127817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A0A0A0"/>
                </a:solidFill>
              </a:rPr>
              <a:t>Current State</a:t>
            </a:r>
            <a:endParaRPr lang="en-US" sz="1269" dirty="0"/>
          </a:p>
        </p:txBody>
      </p:sp>
      <p:sp>
        <p:nvSpPr>
          <p:cNvPr id="9" name="Shape 5"/>
          <p:cNvSpPr/>
          <p:nvPr/>
        </p:nvSpPr>
        <p:spPr>
          <a:xfrm>
            <a:off x="571500" y="1601623"/>
            <a:ext cx="171450" cy="171450"/>
          </a:xfrm>
          <a:prstGeom prst="ellipse">
            <a:avLst/>
          </a:prstGeom>
          <a:solidFill>
            <a:srgbClr val="FF4444">
              <a:alpha val="10000"/>
            </a:srgbClr>
          </a:solidFill>
          <a:ln w="9144">
            <a:solidFill>
              <a:srgbClr val="F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36" y="1644486"/>
            <a:ext cx="53578" cy="85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8675" y="1587336"/>
            <a:ext cx="34540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Manual Data Processing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828675" y="1790933"/>
            <a:ext cx="34540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Data is processed manually in isolation. ISO data comes in messy CSVs, HTML sites, or multi-page PDFs.</a:t>
            </a:r>
            <a:endParaRPr lang="en-US" sz="727" dirty="0"/>
          </a:p>
        </p:txBody>
      </p:sp>
      <p:sp>
        <p:nvSpPr>
          <p:cNvPr id="13" name="Shape 8"/>
          <p:cNvSpPr/>
          <p:nvPr/>
        </p:nvSpPr>
        <p:spPr>
          <a:xfrm>
            <a:off x="571500" y="2213809"/>
            <a:ext cx="171450" cy="171450"/>
          </a:xfrm>
          <a:prstGeom prst="ellipse">
            <a:avLst/>
          </a:prstGeom>
          <a:solidFill>
            <a:srgbClr val="FF4444">
              <a:alpha val="10000"/>
            </a:srgbClr>
          </a:solidFill>
          <a:ln w="9144">
            <a:solidFill>
              <a:srgbClr val="F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36" y="2256672"/>
            <a:ext cx="53578" cy="85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8675" y="2199522"/>
            <a:ext cx="34540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Reactive Operations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828675" y="2403118"/>
            <a:ext cx="34540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Data leveraged primarily in real-time for basic grid operations, missing long-term strategic insights.</a:t>
            </a:r>
            <a:endParaRPr lang="en-US" sz="727" dirty="0"/>
          </a:p>
        </p:txBody>
      </p:sp>
      <p:sp>
        <p:nvSpPr>
          <p:cNvPr id="17" name="Shape 11"/>
          <p:cNvSpPr/>
          <p:nvPr/>
        </p:nvSpPr>
        <p:spPr>
          <a:xfrm>
            <a:off x="571500" y="2825995"/>
            <a:ext cx="171450" cy="171450"/>
          </a:xfrm>
          <a:prstGeom prst="ellipse">
            <a:avLst/>
          </a:prstGeom>
          <a:solidFill>
            <a:srgbClr val="FF4444">
              <a:alpha val="10000"/>
            </a:srgbClr>
          </a:solidFill>
          <a:ln w="9144">
            <a:solidFill>
              <a:srgbClr val="F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436" y="2868857"/>
            <a:ext cx="53578" cy="857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8675" y="2811707"/>
            <a:ext cx="34540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Manual Compilation</a:t>
            </a:r>
            <a:endParaRPr lang="en-US" sz="885" dirty="0"/>
          </a:p>
        </p:txBody>
      </p:sp>
      <p:sp>
        <p:nvSpPr>
          <p:cNvPr id="20" name="Text 13"/>
          <p:cNvSpPr/>
          <p:nvPr/>
        </p:nvSpPr>
        <p:spPr>
          <a:xfrm>
            <a:off x="828675" y="3015304"/>
            <a:ext cx="34540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Sporadic planning and analysis relies on slow, error-prone manual data gathering.</a:t>
            </a:r>
            <a:endParaRPr lang="en-US" sz="727" dirty="0"/>
          </a:p>
        </p:txBody>
      </p:sp>
      <p:sp>
        <p:nvSpPr>
          <p:cNvPr id="21" name="Shape 14"/>
          <p:cNvSpPr/>
          <p:nvPr/>
        </p:nvSpPr>
        <p:spPr>
          <a:xfrm>
            <a:off x="571500" y="3438181"/>
            <a:ext cx="171450" cy="171450"/>
          </a:xfrm>
          <a:prstGeom prst="ellipse">
            <a:avLst/>
          </a:prstGeom>
          <a:solidFill>
            <a:srgbClr val="FF4444">
              <a:alpha val="10000"/>
            </a:srgbClr>
          </a:solidFill>
          <a:ln w="9144">
            <a:solidFill>
              <a:srgbClr val="F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36" y="3481043"/>
            <a:ext cx="53578" cy="857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28675" y="3423893"/>
            <a:ext cx="34540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Siloed Knowledge</a:t>
            </a:r>
            <a:endParaRPr lang="en-US" sz="885" dirty="0"/>
          </a:p>
        </p:txBody>
      </p:sp>
      <p:sp>
        <p:nvSpPr>
          <p:cNvPr id="24" name="Text 16"/>
          <p:cNvSpPr/>
          <p:nvPr/>
        </p:nvSpPr>
        <p:spPr>
          <a:xfrm>
            <a:off x="828675" y="3627490"/>
            <a:ext cx="34540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Critical data exists in isolated business units with limited cross-functional access.</a:t>
            </a:r>
            <a:endParaRPr lang="en-US" sz="727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1322" y="1184607"/>
            <a:ext cx="214313" cy="17145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61359" y="1153353"/>
            <a:ext cx="18669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E5FF"/>
                </a:solidFill>
              </a:rPr>
              <a:t>GridAgent Solution</a:t>
            </a:r>
            <a:endParaRPr lang="en-US" sz="1269" dirty="0"/>
          </a:p>
        </p:txBody>
      </p:sp>
      <p:sp>
        <p:nvSpPr>
          <p:cNvPr id="27" name="Shape 18"/>
          <p:cNvSpPr/>
          <p:nvPr/>
        </p:nvSpPr>
        <p:spPr>
          <a:xfrm>
            <a:off x="4861322" y="1601623"/>
            <a:ext cx="171450" cy="171450"/>
          </a:xfrm>
          <a:prstGeom prst="ellipse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9542" y="1644486"/>
            <a:ext cx="75009" cy="8572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18497" y="1587336"/>
            <a:ext cx="34540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Robust Data Pipeline</a:t>
            </a:r>
            <a:endParaRPr lang="en-US" sz="885" dirty="0"/>
          </a:p>
        </p:txBody>
      </p:sp>
      <p:sp>
        <p:nvSpPr>
          <p:cNvPr id="30" name="Text 20"/>
          <p:cNvSpPr/>
          <p:nvPr/>
        </p:nvSpPr>
        <p:spPr>
          <a:xfrm>
            <a:off x="5118497" y="1790933"/>
            <a:ext cx="34540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Proprietary pipeline converts fragmented raw power market data into an AI-readable intelligent layer.</a:t>
            </a:r>
            <a:endParaRPr lang="en-US" sz="727" dirty="0"/>
          </a:p>
        </p:txBody>
      </p:sp>
      <p:sp>
        <p:nvSpPr>
          <p:cNvPr id="31" name="Shape 21"/>
          <p:cNvSpPr/>
          <p:nvPr/>
        </p:nvSpPr>
        <p:spPr>
          <a:xfrm>
            <a:off x="4861322" y="2213809"/>
            <a:ext cx="171450" cy="171450"/>
          </a:xfrm>
          <a:prstGeom prst="ellipse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9542" y="2256672"/>
            <a:ext cx="75009" cy="8572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118497" y="2199522"/>
            <a:ext cx="34540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Predictive Planning</a:t>
            </a:r>
            <a:endParaRPr lang="en-US" sz="885" dirty="0"/>
          </a:p>
        </p:txBody>
      </p:sp>
      <p:sp>
        <p:nvSpPr>
          <p:cNvPr id="34" name="Text 23"/>
          <p:cNvSpPr/>
          <p:nvPr/>
        </p:nvSpPr>
        <p:spPr>
          <a:xfrm>
            <a:off x="5118497" y="2403118"/>
            <a:ext cx="34540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AI-based input for grid planning decisions, anticipating load and congestion before they happen.</a:t>
            </a:r>
            <a:endParaRPr lang="en-US" sz="727" dirty="0"/>
          </a:p>
        </p:txBody>
      </p:sp>
      <p:sp>
        <p:nvSpPr>
          <p:cNvPr id="35" name="Shape 24"/>
          <p:cNvSpPr/>
          <p:nvPr/>
        </p:nvSpPr>
        <p:spPr>
          <a:xfrm>
            <a:off x="4861322" y="2825995"/>
            <a:ext cx="171450" cy="171450"/>
          </a:xfrm>
          <a:prstGeom prst="ellipse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9542" y="2868857"/>
            <a:ext cx="75009" cy="8572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118497" y="2811707"/>
            <a:ext cx="34540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Optimized Operations</a:t>
            </a:r>
            <a:endParaRPr lang="en-US" sz="885" dirty="0"/>
          </a:p>
        </p:txBody>
      </p:sp>
      <p:sp>
        <p:nvSpPr>
          <p:cNvPr id="38" name="Text 26"/>
          <p:cNvSpPr/>
          <p:nvPr/>
        </p:nvSpPr>
        <p:spPr>
          <a:xfrm>
            <a:off x="5118497" y="3015304"/>
            <a:ext cx="34540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Real-time optimization across regions and T&amp;D networks to maximize asset utilization.</a:t>
            </a:r>
            <a:endParaRPr lang="en-US" sz="727" dirty="0"/>
          </a:p>
        </p:txBody>
      </p:sp>
      <p:sp>
        <p:nvSpPr>
          <p:cNvPr id="39" name="Shape 27"/>
          <p:cNvSpPr/>
          <p:nvPr/>
        </p:nvSpPr>
        <p:spPr>
          <a:xfrm>
            <a:off x="4861322" y="3438181"/>
            <a:ext cx="171450" cy="171450"/>
          </a:xfrm>
          <a:prstGeom prst="ellipse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9542" y="3481043"/>
            <a:ext cx="75009" cy="85725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118497" y="3423893"/>
            <a:ext cx="34540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Automated Workflows</a:t>
            </a:r>
            <a:endParaRPr lang="en-US" sz="885" dirty="0"/>
          </a:p>
        </p:txBody>
      </p:sp>
      <p:sp>
        <p:nvSpPr>
          <p:cNvPr id="42" name="Text 29"/>
          <p:cNvSpPr/>
          <p:nvPr/>
        </p:nvSpPr>
        <p:spPr>
          <a:xfrm>
            <a:off x="5118497" y="3627490"/>
            <a:ext cx="34540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Significant back-office improvements in maintenance tracking and interconnection management.</a:t>
            </a:r>
            <a:endParaRPr lang="en-US" sz="727" dirty="0"/>
          </a:p>
        </p:txBody>
      </p:sp>
      <p:sp>
        <p:nvSpPr>
          <p:cNvPr id="43" name="Shape 30"/>
          <p:cNvSpPr/>
          <p:nvPr/>
        </p:nvSpPr>
        <p:spPr>
          <a:xfrm>
            <a:off x="571500" y="4359473"/>
            <a:ext cx="8001000" cy="35540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31"/>
          <p:cNvSpPr/>
          <p:nvPr/>
        </p:nvSpPr>
        <p:spPr>
          <a:xfrm>
            <a:off x="714375" y="4486275"/>
            <a:ext cx="807634" cy="116086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00E5FF"/>
                </a:solidFill>
              </a:rPr>
              <a:t>Input Sources</a:t>
            </a:r>
            <a:endParaRPr lang="en-US" sz="621" dirty="0"/>
          </a:p>
        </p:txBody>
      </p:sp>
      <p:sp>
        <p:nvSpPr>
          <p:cNvPr id="45" name="Text 32"/>
          <p:cNvSpPr/>
          <p:nvPr/>
        </p:nvSpPr>
        <p:spPr>
          <a:xfrm>
            <a:off x="1664884" y="4480917"/>
            <a:ext cx="105557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A0A0A0"/>
                </a:solidFill>
              </a:rPr>
              <a:t>Interconnection Queues</a:t>
            </a:r>
            <a:endParaRPr lang="en-US" sz="674" dirty="0"/>
          </a:p>
        </p:txBody>
      </p:sp>
      <p:sp>
        <p:nvSpPr>
          <p:cNvPr id="46" name="Text 33"/>
          <p:cNvSpPr/>
          <p:nvPr/>
        </p:nvSpPr>
        <p:spPr>
          <a:xfrm>
            <a:off x="3034782" y="4480917"/>
            <a:ext cx="6469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A0A0A0"/>
                </a:solidFill>
              </a:rPr>
              <a:t>Cluster Results</a:t>
            </a:r>
            <a:endParaRPr lang="en-US" sz="674" dirty="0"/>
          </a:p>
        </p:txBody>
      </p:sp>
      <p:sp>
        <p:nvSpPr>
          <p:cNvPr id="47" name="Text 34"/>
          <p:cNvSpPr/>
          <p:nvPr/>
        </p:nvSpPr>
        <p:spPr>
          <a:xfrm>
            <a:off x="3996035" y="4480917"/>
            <a:ext cx="11327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A0A0A0"/>
                </a:solidFill>
              </a:rPr>
              <a:t>ISO Stakeholder Meetings</a:t>
            </a:r>
            <a:endParaRPr lang="en-US" sz="674" dirty="0"/>
          </a:p>
        </p:txBody>
      </p:sp>
      <p:sp>
        <p:nvSpPr>
          <p:cNvPr id="48" name="Text 35"/>
          <p:cNvSpPr/>
          <p:nvPr/>
        </p:nvSpPr>
        <p:spPr>
          <a:xfrm>
            <a:off x="5443091" y="4480917"/>
            <a:ext cx="11457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A0A0A0"/>
                </a:solidFill>
              </a:rPr>
              <a:t>LMP/Capacity/Curtailment</a:t>
            </a:r>
            <a:endParaRPr lang="en-US" sz="674" dirty="0"/>
          </a:p>
        </p:txBody>
      </p:sp>
      <p:sp>
        <p:nvSpPr>
          <p:cNvPr id="49" name="Text 36"/>
          <p:cNvSpPr/>
          <p:nvPr/>
        </p:nvSpPr>
        <p:spPr>
          <a:xfrm>
            <a:off x="6903151" y="4480917"/>
            <a:ext cx="1208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A0A0A0"/>
                </a:solidFill>
              </a:rPr>
              <a:t>Transmission Upgrade Data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60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5818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285750" y="428625"/>
            <a:ext cx="28575" cy="58185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57200" y="428625"/>
            <a:ext cx="8401050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FFFFFF"/>
                </a:solidFill>
              </a:rPr>
              <a:t>GridAgent Technology Architecture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57200" y="815811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</a:rPr>
              <a:t>Lightweight orchestration layer connects AI agents to real-time US power market data sources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296228"/>
            <a:ext cx="5624503" cy="3675459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28625" y="1439103"/>
            <a:ext cx="120949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SYSTEM ARCHITECTURE FLOW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571500" y="2633895"/>
            <a:ext cx="1000125" cy="1000125"/>
          </a:xfrm>
          <a:prstGeom prst="rect">
            <a:avLst/>
          </a:prstGeom>
          <a:solidFill>
            <a:srgbClr val="0F1115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831241"/>
            <a:ext cx="200025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8686" y="3166997"/>
            <a:ext cx="2257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User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757321" y="3338447"/>
            <a:ext cx="62845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16" dirty="0">
                <a:solidFill>
                  <a:srgbClr val="888888"/>
                </a:solidFill>
              </a:rPr>
              <a:t>Frontend Interface</a:t>
            </a:r>
            <a:endParaRPr lang="en-US" sz="516" dirty="0"/>
          </a:p>
        </p:txBody>
      </p:sp>
      <p:sp>
        <p:nvSpPr>
          <p:cNvPr id="13" name="Shape 9"/>
          <p:cNvSpPr/>
          <p:nvPr/>
        </p:nvSpPr>
        <p:spPr>
          <a:xfrm>
            <a:off x="1643063" y="3126814"/>
            <a:ext cx="206387" cy="142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872" y="3091095"/>
            <a:ext cx="53578" cy="8572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643063" y="3126814"/>
            <a:ext cx="203178" cy="14288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1920887" y="2633895"/>
            <a:ext cx="1000125" cy="1000125"/>
          </a:xfrm>
          <a:prstGeom prst="rect">
            <a:avLst/>
          </a:prstGeom>
          <a:solidFill>
            <a:srgbClr val="0F1115">
              <a:alpha val="80000"/>
            </a:srgbClr>
          </a:solidFill>
          <a:ln w="9144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6650" y="2782128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06151" y="3117884"/>
            <a:ext cx="6295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Orchestrator</a:t>
            </a:r>
            <a:endParaRPr lang="en-US" sz="683" dirty="0"/>
          </a:p>
        </p:txBody>
      </p:sp>
      <p:sp>
        <p:nvSpPr>
          <p:cNvPr id="19" name="Text 13"/>
          <p:cNvSpPr/>
          <p:nvPr/>
        </p:nvSpPr>
        <p:spPr>
          <a:xfrm>
            <a:off x="2063762" y="3289334"/>
            <a:ext cx="7143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16" dirty="0">
                <a:solidFill>
                  <a:srgbClr val="888888"/>
                </a:solidFill>
              </a:rPr>
              <a:t>AI Agents Trained for US Power Markets</a:t>
            </a:r>
            <a:endParaRPr lang="en-US" sz="516" dirty="0"/>
          </a:p>
        </p:txBody>
      </p:sp>
      <p:sp>
        <p:nvSpPr>
          <p:cNvPr id="20" name="Shape 14"/>
          <p:cNvSpPr/>
          <p:nvPr/>
        </p:nvSpPr>
        <p:spPr>
          <a:xfrm>
            <a:off x="2992450" y="3126814"/>
            <a:ext cx="206387" cy="142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259" y="3091095"/>
            <a:ext cx="53578" cy="8572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2992450" y="3126814"/>
            <a:ext cx="203178" cy="14288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6"/>
          <p:cNvSpPr/>
          <p:nvPr/>
        </p:nvSpPr>
        <p:spPr>
          <a:xfrm>
            <a:off x="3270275" y="2633895"/>
            <a:ext cx="1000125" cy="1000125"/>
          </a:xfrm>
          <a:prstGeom prst="rect">
            <a:avLst/>
          </a:prstGeom>
          <a:solidFill>
            <a:srgbClr val="0F1115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7462" y="2733015"/>
            <a:ext cx="28575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534454" y="3068771"/>
            <a:ext cx="4717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AI Agents</a:t>
            </a:r>
            <a:endParaRPr lang="en-US" sz="683" dirty="0"/>
          </a:p>
        </p:txBody>
      </p:sp>
      <p:sp>
        <p:nvSpPr>
          <p:cNvPr id="26" name="Text 18"/>
          <p:cNvSpPr/>
          <p:nvPr/>
        </p:nvSpPr>
        <p:spPr>
          <a:xfrm>
            <a:off x="3413150" y="3240221"/>
            <a:ext cx="714375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16" dirty="0">
                <a:solidFill>
                  <a:srgbClr val="888888"/>
                </a:solidFill>
              </a:rPr>
              <a:t>Isolated Sandbox for each users for data security</a:t>
            </a:r>
            <a:endParaRPr lang="en-US" sz="516" dirty="0"/>
          </a:p>
        </p:txBody>
      </p:sp>
      <p:sp>
        <p:nvSpPr>
          <p:cNvPr id="27" name="Shape 19"/>
          <p:cNvSpPr/>
          <p:nvPr/>
        </p:nvSpPr>
        <p:spPr>
          <a:xfrm>
            <a:off x="4341837" y="3126814"/>
            <a:ext cx="206387" cy="142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647" y="3091095"/>
            <a:ext cx="53578" cy="85725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4341837" y="3126814"/>
            <a:ext cx="203178" cy="14288"/>
          </a:xfrm>
          <a:prstGeom prst="rect">
            <a:avLst/>
          </a:prstGeom>
          <a:solidFill>
            <a:srgbClr val="00E5FF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1"/>
          <p:cNvSpPr/>
          <p:nvPr/>
        </p:nvSpPr>
        <p:spPr>
          <a:xfrm>
            <a:off x="4619662" y="2633895"/>
            <a:ext cx="1000125" cy="1000125"/>
          </a:xfrm>
          <a:prstGeom prst="rect">
            <a:avLst/>
          </a:prstGeom>
          <a:solidFill>
            <a:srgbClr val="0F1115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9712" y="2733015"/>
            <a:ext cx="200025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855518" y="3068771"/>
            <a:ext cx="5283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Data Layer</a:t>
            </a:r>
            <a:endParaRPr lang="en-US" sz="683" dirty="0"/>
          </a:p>
        </p:txBody>
      </p:sp>
      <p:sp>
        <p:nvSpPr>
          <p:cNvPr id="33" name="Text 23"/>
          <p:cNvSpPr/>
          <p:nvPr/>
        </p:nvSpPr>
        <p:spPr>
          <a:xfrm>
            <a:off x="4762537" y="3240221"/>
            <a:ext cx="714375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16" dirty="0">
                <a:solidFill>
                  <a:srgbClr val="888888"/>
                </a:solidFill>
              </a:rPr>
              <a:t>ETL Pipeline that converts siloed data into AI Readable</a:t>
            </a:r>
            <a:endParaRPr lang="en-US" sz="516" dirty="0"/>
          </a:p>
        </p:txBody>
      </p:sp>
      <p:sp>
        <p:nvSpPr>
          <p:cNvPr id="34" name="Shape 24"/>
          <p:cNvSpPr/>
          <p:nvPr/>
        </p:nvSpPr>
        <p:spPr>
          <a:xfrm>
            <a:off x="2331234" y="4516273"/>
            <a:ext cx="1528763" cy="98227"/>
          </a:xfrm>
          <a:prstGeom prst="rect">
            <a:avLst/>
          </a:prstGeom>
          <a:solidFill>
            <a:srgbClr val="0F111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25"/>
          <p:cNvSpPr/>
          <p:nvPr/>
        </p:nvSpPr>
        <p:spPr>
          <a:xfrm>
            <a:off x="2331234" y="4516273"/>
            <a:ext cx="1528763" cy="98227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Delovering Insights in minutes not weeks</a:t>
            </a:r>
            <a:endParaRPr lang="en-US" sz="516" dirty="0"/>
          </a:p>
        </p:txBody>
      </p:sp>
      <p:sp>
        <p:nvSpPr>
          <p:cNvPr id="36" name="Shape 26"/>
          <p:cNvSpPr/>
          <p:nvPr/>
        </p:nvSpPr>
        <p:spPr>
          <a:xfrm>
            <a:off x="6334134" y="1296228"/>
            <a:ext cx="2524116" cy="23217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27"/>
          <p:cNvSpPr/>
          <p:nvPr/>
        </p:nvSpPr>
        <p:spPr>
          <a:xfrm>
            <a:off x="6334134" y="1296228"/>
            <a:ext cx="14288" cy="2321719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28"/>
          <p:cNvSpPr/>
          <p:nvPr/>
        </p:nvSpPr>
        <p:spPr>
          <a:xfrm>
            <a:off x="6641316" y="1474822"/>
            <a:ext cx="16579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E5FF"/>
                </a:solidFill>
              </a:rPr>
              <a:t>8+ Integrated Data Sources</a:t>
            </a:r>
            <a:endParaRPr lang="en-US" sz="727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728" y="1785575"/>
            <a:ext cx="71438" cy="7143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655603" y="1753428"/>
            <a:ext cx="113674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D0D0D0"/>
                </a:solidFill>
              </a:rPr>
              <a:t>Interconnection Queues</a:t>
            </a:r>
            <a:endParaRPr lang="en-US" sz="727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728" y="2007031"/>
            <a:ext cx="71438" cy="7143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655603" y="1974884"/>
            <a:ext cx="6967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D0D0D0"/>
                </a:solidFill>
              </a:rPr>
              <a:t>Cluster Results</a:t>
            </a:r>
            <a:endParaRPr lang="en-US" sz="727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728" y="2228487"/>
            <a:ext cx="71438" cy="7143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655603" y="2196340"/>
            <a:ext cx="8130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D0D0D0"/>
                </a:solidFill>
              </a:rPr>
              <a:t>Manuals &amp; Tariffs</a:t>
            </a:r>
            <a:endParaRPr lang="en-US" sz="727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728" y="2449943"/>
            <a:ext cx="71438" cy="71438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655603" y="2417797"/>
            <a:ext cx="6782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D0D0D0"/>
                </a:solidFill>
              </a:rPr>
              <a:t>Industry News</a:t>
            </a:r>
            <a:endParaRPr lang="en-US" sz="727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728" y="2671400"/>
            <a:ext cx="71438" cy="71438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6655603" y="2639253"/>
            <a:ext cx="9222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D0D0D0"/>
                </a:solidFill>
              </a:rPr>
              <a:t>Energy Prices (LMP)</a:t>
            </a:r>
            <a:endParaRPr lang="en-US" sz="727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728" y="2892856"/>
            <a:ext cx="71438" cy="71438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6655603" y="2860709"/>
            <a:ext cx="4007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D0D0D0"/>
                </a:solidFill>
              </a:rPr>
              <a:t>EAI Data</a:t>
            </a:r>
            <a:endParaRPr lang="en-US" sz="727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728" y="3114312"/>
            <a:ext cx="71438" cy="71438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6655603" y="3082165"/>
            <a:ext cx="7366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D0D0D0"/>
                </a:solidFill>
              </a:rPr>
              <a:t>Forward Curves</a:t>
            </a:r>
            <a:endParaRPr lang="en-US" sz="727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728" y="3335768"/>
            <a:ext cx="71438" cy="71438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6655603" y="3303622"/>
            <a:ext cx="10269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D0D0D0"/>
                </a:solidFill>
              </a:rPr>
              <a:t>Stakeholder Meetings</a:t>
            </a:r>
            <a:endParaRPr lang="en-US" sz="727" dirty="0"/>
          </a:p>
        </p:txBody>
      </p:sp>
      <p:sp>
        <p:nvSpPr>
          <p:cNvPr id="55" name="Shape 37"/>
          <p:cNvSpPr/>
          <p:nvPr/>
        </p:nvSpPr>
        <p:spPr>
          <a:xfrm>
            <a:off x="6334134" y="3832259"/>
            <a:ext cx="2524116" cy="11394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38"/>
          <p:cNvSpPr/>
          <p:nvPr/>
        </p:nvSpPr>
        <p:spPr>
          <a:xfrm>
            <a:off x="6334134" y="3832259"/>
            <a:ext cx="14288" cy="11394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2728" y="4028712"/>
            <a:ext cx="107156" cy="100013"/>
          </a:xfrm>
          <a:prstGeom prst="rect">
            <a:avLst/>
          </a:prstGeom>
        </p:spPr>
      </p:pic>
      <p:sp>
        <p:nvSpPr>
          <p:cNvPr id="58" name="Text 39"/>
          <p:cNvSpPr/>
          <p:nvPr/>
        </p:nvSpPr>
        <p:spPr>
          <a:xfrm>
            <a:off x="6691322" y="4010853"/>
            <a:ext cx="6451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E5FF"/>
                </a:solidFill>
              </a:rPr>
              <a:t>Core Stack</a:t>
            </a:r>
            <a:endParaRPr lang="en-US" sz="727" dirty="0"/>
          </a:p>
        </p:txBody>
      </p:sp>
      <p:sp>
        <p:nvSpPr>
          <p:cNvPr id="59" name="Shape 40"/>
          <p:cNvSpPr/>
          <p:nvPr/>
        </p:nvSpPr>
        <p:spPr>
          <a:xfrm>
            <a:off x="6512728" y="4289459"/>
            <a:ext cx="911247" cy="21609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41"/>
          <p:cNvSpPr/>
          <p:nvPr/>
        </p:nvSpPr>
        <p:spPr>
          <a:xfrm>
            <a:off x="6512728" y="4289459"/>
            <a:ext cx="911247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Claude Agent SDK</a:t>
            </a:r>
            <a:endParaRPr lang="en-US" sz="621" dirty="0"/>
          </a:p>
        </p:txBody>
      </p:sp>
      <p:sp>
        <p:nvSpPr>
          <p:cNvPr id="61" name="Shape 42"/>
          <p:cNvSpPr/>
          <p:nvPr/>
        </p:nvSpPr>
        <p:spPr>
          <a:xfrm>
            <a:off x="7481125" y="4289459"/>
            <a:ext cx="709519" cy="21609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43"/>
          <p:cNvSpPr/>
          <p:nvPr/>
        </p:nvSpPr>
        <p:spPr>
          <a:xfrm>
            <a:off x="7481125" y="4289459"/>
            <a:ext cx="709519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E2B Sandbox</a:t>
            </a:r>
            <a:endParaRPr lang="en-US" sz="621" dirty="0"/>
          </a:p>
        </p:txBody>
      </p:sp>
      <p:sp>
        <p:nvSpPr>
          <p:cNvPr id="63" name="Shape 44"/>
          <p:cNvSpPr/>
          <p:nvPr/>
        </p:nvSpPr>
        <p:spPr>
          <a:xfrm>
            <a:off x="6512728" y="4562708"/>
            <a:ext cx="684070" cy="21609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45"/>
          <p:cNvSpPr/>
          <p:nvPr/>
        </p:nvSpPr>
        <p:spPr>
          <a:xfrm>
            <a:off x="6512728" y="4562708"/>
            <a:ext cx="684070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S3 Database</a:t>
            </a:r>
            <a:endParaRPr lang="en-US" sz="621" dirty="0"/>
          </a:p>
        </p:txBody>
      </p:sp>
      <p:sp>
        <p:nvSpPr>
          <p:cNvPr id="65" name="Shape 46"/>
          <p:cNvSpPr/>
          <p:nvPr/>
        </p:nvSpPr>
        <p:spPr>
          <a:xfrm>
            <a:off x="7253948" y="4562708"/>
            <a:ext cx="880886" cy="21609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47"/>
          <p:cNvSpPr/>
          <p:nvPr/>
        </p:nvSpPr>
        <p:spPr>
          <a:xfrm>
            <a:off x="7253948" y="4562708"/>
            <a:ext cx="880886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ETL Data Pipeline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18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58185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FFFFFF"/>
                </a:solidFill>
              </a:rPr>
              <a:t>Market Opportunity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15811"/>
            <a:ext cx="7829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</a:rPr>
              <a:t>Targeting a $12B serviceable market with a focused go-to-market strategy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239078"/>
            <a:ext cx="2552691" cy="29078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571500" y="1239078"/>
            <a:ext cx="2552691" cy="28575"/>
          </a:xfrm>
          <a:prstGeom prst="rect">
            <a:avLst/>
          </a:prstGeom>
          <a:solidFill>
            <a:srgbClr val="A0A0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117047" y="1239078"/>
            <a:ext cx="7144" cy="29078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71500" y="4139803"/>
            <a:ext cx="2552691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71500" y="1239078"/>
            <a:ext cx="7144" cy="29078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42950" y="1410528"/>
            <a:ext cx="22002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A0A0A0">
                    <a:alpha val="80000"/>
                  </a:srgbClr>
                </a:solidFill>
              </a:rPr>
              <a:t>TAM (Total Addressable)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742950" y="1617697"/>
            <a:ext cx="22002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410" kern="0" spc="-2" dirty="0">
                <a:solidFill>
                  <a:srgbClr val="A0A0A0"/>
                </a:solidFill>
              </a:rPr>
              <a:t>$45B</a:t>
            </a:r>
            <a:endParaRPr lang="en-US" sz="4410" dirty="0"/>
          </a:p>
        </p:txBody>
      </p:sp>
      <p:sp>
        <p:nvSpPr>
          <p:cNvPr id="14" name="Text 11"/>
          <p:cNvSpPr/>
          <p:nvPr/>
        </p:nvSpPr>
        <p:spPr>
          <a:xfrm>
            <a:off x="742950" y="2260634"/>
            <a:ext cx="22002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Total US Utility Software &amp; Services Spend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742950" y="2856412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3,000+ Utilities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2950" y="3063580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7 ISOs/RTOs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742950" y="3270749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1,000+ IPPs/Developers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742950" y="3477918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14% of total utility spend by 2040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286125" y="1239078"/>
            <a:ext cx="2557463" cy="29078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286125" y="1239078"/>
            <a:ext cx="2557463" cy="28575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836444" y="1239078"/>
            <a:ext cx="7144" cy="29078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3286125" y="4139803"/>
            <a:ext cx="2557463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3286125" y="1239078"/>
            <a:ext cx="7144" cy="29078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462347" y="1410528"/>
            <a:ext cx="22050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E5FF">
                    <a:alpha val="80000"/>
                  </a:srgbClr>
                </a:solidFill>
              </a:rPr>
              <a:t>SAM (Serviceable Available)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3462347" y="1617697"/>
            <a:ext cx="220504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410" kern="0" spc="-2" dirty="0">
                <a:solidFill>
                  <a:srgbClr val="00E5FF"/>
                </a:solidFill>
              </a:rPr>
              <a:t>$12B</a:t>
            </a:r>
            <a:endParaRPr lang="en-US" sz="4410" dirty="0"/>
          </a:p>
        </p:txBody>
      </p:sp>
      <p:sp>
        <p:nvSpPr>
          <p:cNvPr id="26" name="Text 23"/>
          <p:cNvSpPr/>
          <p:nvPr/>
        </p:nvSpPr>
        <p:spPr>
          <a:xfrm>
            <a:off x="3462347" y="2260634"/>
            <a:ext cx="22050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Grid Interconnection, Planning &amp; Data Ops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3462347" y="2856412"/>
            <a:ext cx="22050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Interconnection Mgmt: $2.5B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3462347" y="3063580"/>
            <a:ext cx="22050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Planning &amp; Ops: $5.8B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3462347" y="3270749"/>
            <a:ext cx="22050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Data &amp; Analytics: $3.7B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3462347" y="3477918"/>
            <a:ext cx="22050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Target: Top 150 Utilities and Developers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6010294" y="1239078"/>
            <a:ext cx="2562234" cy="29078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6010294" y="1239078"/>
            <a:ext cx="2562234" cy="28575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8565384" y="1239078"/>
            <a:ext cx="7144" cy="29078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6010294" y="4139803"/>
            <a:ext cx="2562234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6010294" y="1239078"/>
            <a:ext cx="7144" cy="29078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6191231" y="1410528"/>
            <a:ext cx="22097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FF4444">
                    <a:alpha val="80000"/>
                  </a:srgbClr>
                </a:solidFill>
              </a:rPr>
              <a:t>SOM (Obtainable)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6191231" y="1617697"/>
            <a:ext cx="220979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410" kern="0" spc="-2" dirty="0">
                <a:solidFill>
                  <a:srgbClr val="FF4444"/>
                </a:solidFill>
              </a:rPr>
              <a:t>$120M</a:t>
            </a:r>
            <a:endParaRPr lang="en-US" sz="4410" dirty="0"/>
          </a:p>
        </p:txBody>
      </p:sp>
      <p:sp>
        <p:nvSpPr>
          <p:cNvPr id="38" name="Text 35"/>
          <p:cNvSpPr/>
          <p:nvPr/>
        </p:nvSpPr>
        <p:spPr>
          <a:xfrm>
            <a:off x="6191231" y="2260634"/>
            <a:ext cx="2209791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5-Year Revenue Target (1% of SAM)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6191231" y="2853565"/>
            <a:ext cx="22097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10+ Utility Customers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6191231" y="3060734"/>
            <a:ext cx="22097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5 Consulting Enterprises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6191231" y="3267903"/>
            <a:ext cx="22097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100 Developers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6191231" y="3475072"/>
            <a:ext cx="22097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5+ Lenders/Banks/M&amp;A Stakeholders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571500" y="4318397"/>
            <a:ext cx="8001000" cy="63936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742950" y="4577358"/>
            <a:ext cx="13682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A0A0A0"/>
                </a:solidFill>
              </a:rPr>
              <a:t>Market Entry Strategy</a:t>
            </a:r>
            <a:endParaRPr lang="en-US" sz="727" dirty="0"/>
          </a:p>
        </p:txBody>
      </p:sp>
      <p:sp>
        <p:nvSpPr>
          <p:cNvPr id="45" name="Text 42"/>
          <p:cNvSpPr/>
          <p:nvPr/>
        </p:nvSpPr>
        <p:spPr>
          <a:xfrm>
            <a:off x="2282679" y="4446984"/>
            <a:ext cx="16750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Interconnection Management</a:t>
            </a:r>
            <a:endParaRPr lang="en-US" sz="784" dirty="0"/>
          </a:p>
        </p:txBody>
      </p:sp>
      <p:sp>
        <p:nvSpPr>
          <p:cNvPr id="46" name="Text 43"/>
          <p:cNvSpPr/>
          <p:nvPr/>
        </p:nvSpPr>
        <p:spPr>
          <a:xfrm>
            <a:off x="4029187" y="4446984"/>
            <a:ext cx="6018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as a wedge</a:t>
            </a:r>
            <a:endParaRPr lang="en-US" sz="834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717" y="4474666"/>
            <a:ext cx="62508" cy="100013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4864950" y="4446984"/>
            <a:ext cx="5395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Expand to</a:t>
            </a:r>
            <a:endParaRPr lang="en-US" sz="834" dirty="0"/>
          </a:p>
        </p:txBody>
      </p:sp>
      <p:sp>
        <p:nvSpPr>
          <p:cNvPr id="49" name="Text 45"/>
          <p:cNvSpPr/>
          <p:nvPr/>
        </p:nvSpPr>
        <p:spPr>
          <a:xfrm>
            <a:off x="5475908" y="4446984"/>
            <a:ext cx="12617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Planning &amp; Operations</a:t>
            </a:r>
            <a:endParaRPr lang="en-US" sz="784" dirty="0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397" y="4474666"/>
            <a:ext cx="62508" cy="100013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2282679" y="4688086"/>
            <a:ext cx="5108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Cross-sell</a:t>
            </a:r>
            <a:endParaRPr lang="en-US" sz="834" dirty="0"/>
          </a:p>
        </p:txBody>
      </p:sp>
      <p:sp>
        <p:nvSpPr>
          <p:cNvPr id="52" name="Text 47"/>
          <p:cNvSpPr/>
          <p:nvPr/>
        </p:nvSpPr>
        <p:spPr>
          <a:xfrm>
            <a:off x="2864923" y="4688086"/>
            <a:ext cx="13196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Data Analytics Platform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18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58185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FFFFFF"/>
                </a:solidFill>
              </a:rPr>
              <a:t>Competitive Landscape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15811"/>
            <a:ext cx="7829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</a:rPr>
              <a:t>GridAgent's Four-Dimensional Advantage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224790"/>
            <a:ext cx="2571750" cy="2116001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742950" y="1396240"/>
            <a:ext cx="228600" cy="2286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45" y="1460534"/>
            <a:ext cx="75009" cy="1000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7275" y="1423029"/>
            <a:ext cx="10908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Legacy Vendors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742950" y="1860584"/>
            <a:ext cx="2228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ABB Hitachi Velocity Suite, Enverus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742950" y="2123452"/>
            <a:ext cx="2228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888888"/>
                </a:solidFill>
              </a:rPr>
              <a:t>Strengths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742950" y="2268113"/>
            <a:ext cx="22288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Established relationships, integrated hardware/software ecosystems.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742950" y="2662414"/>
            <a:ext cx="2228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FF4444"/>
                </a:solidFill>
              </a:rPr>
              <a:t>Weaknesses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742950" y="2807075"/>
            <a:ext cx="22288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Dated technology, slow innovation cycles, high implementation costs.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3286125" y="1224790"/>
            <a:ext cx="2571750" cy="2116001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3457575" y="1396240"/>
            <a:ext cx="228600" cy="2286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869" y="1460534"/>
            <a:ext cx="100013" cy="1000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71900" y="1423029"/>
            <a:ext cx="13107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Emerging Startups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3457575" y="1860584"/>
            <a:ext cx="2228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Gridstatus.io, Interconnection.fyi, Cleanview</a:t>
            </a:r>
            <a:endParaRPr lang="en-US" sz="621" dirty="0"/>
          </a:p>
        </p:txBody>
      </p:sp>
      <p:sp>
        <p:nvSpPr>
          <p:cNvPr id="21" name="Text 16"/>
          <p:cNvSpPr/>
          <p:nvPr/>
        </p:nvSpPr>
        <p:spPr>
          <a:xfrm>
            <a:off x="3457575" y="2123452"/>
            <a:ext cx="2228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888888"/>
                </a:solidFill>
              </a:rPr>
              <a:t>Strengths</a:t>
            </a:r>
            <a:endParaRPr lang="en-US" sz="584" dirty="0"/>
          </a:p>
        </p:txBody>
      </p:sp>
      <p:sp>
        <p:nvSpPr>
          <p:cNvPr id="22" name="Text 17"/>
          <p:cNvSpPr/>
          <p:nvPr/>
        </p:nvSpPr>
        <p:spPr>
          <a:xfrm>
            <a:off x="3457575" y="2268113"/>
            <a:ext cx="22288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Modern tech stacks, specific point solutions (e.g., just planning).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3457575" y="2662414"/>
            <a:ext cx="2228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FF4444"/>
                </a:solidFill>
              </a:rPr>
              <a:t>Weaknesses</a:t>
            </a:r>
            <a:endParaRPr lang="en-US" sz="584" dirty="0"/>
          </a:p>
        </p:txBody>
      </p:sp>
      <p:sp>
        <p:nvSpPr>
          <p:cNvPr id="24" name="Text 19"/>
          <p:cNvSpPr/>
          <p:nvPr/>
        </p:nvSpPr>
        <p:spPr>
          <a:xfrm>
            <a:off x="3457575" y="2807075"/>
            <a:ext cx="22288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Fragmented "point solutions" require integration; lack comprehensive platform.</a:t>
            </a:r>
            <a:endParaRPr lang="en-US" sz="727" dirty="0"/>
          </a:p>
        </p:txBody>
      </p:sp>
      <p:sp>
        <p:nvSpPr>
          <p:cNvPr id="25" name="Shape 20"/>
          <p:cNvSpPr/>
          <p:nvPr/>
        </p:nvSpPr>
        <p:spPr>
          <a:xfrm>
            <a:off x="6000750" y="1224790"/>
            <a:ext cx="2571750" cy="2116001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6172200" y="1396240"/>
            <a:ext cx="228600" cy="2286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2745" y="1460534"/>
            <a:ext cx="87511" cy="10001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86525" y="1423029"/>
            <a:ext cx="12236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Consulting Firms</a:t>
            </a:r>
            <a:endParaRPr lang="en-US" sz="942" dirty="0"/>
          </a:p>
        </p:txBody>
      </p:sp>
      <p:sp>
        <p:nvSpPr>
          <p:cNvPr id="29" name="Text 23"/>
          <p:cNvSpPr/>
          <p:nvPr/>
        </p:nvSpPr>
        <p:spPr>
          <a:xfrm>
            <a:off x="6172200" y="1860584"/>
            <a:ext cx="2228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ICF, Guidehouse, PA Consulting</a:t>
            </a:r>
            <a:endParaRPr lang="en-US" sz="621" dirty="0"/>
          </a:p>
        </p:txBody>
      </p:sp>
      <p:sp>
        <p:nvSpPr>
          <p:cNvPr id="30" name="Text 24"/>
          <p:cNvSpPr/>
          <p:nvPr/>
        </p:nvSpPr>
        <p:spPr>
          <a:xfrm>
            <a:off x="6172200" y="2123452"/>
            <a:ext cx="2228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888888"/>
                </a:solidFill>
              </a:rPr>
              <a:t>Strengths</a:t>
            </a:r>
            <a:endParaRPr lang="en-US" sz="584" dirty="0"/>
          </a:p>
        </p:txBody>
      </p:sp>
      <p:sp>
        <p:nvSpPr>
          <p:cNvPr id="31" name="Text 25"/>
          <p:cNvSpPr/>
          <p:nvPr/>
        </p:nvSpPr>
        <p:spPr>
          <a:xfrm>
            <a:off x="6172200" y="2268113"/>
            <a:ext cx="22288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Deep domain expertise, trusted advisory relationships.</a:t>
            </a:r>
            <a:endParaRPr lang="en-US" sz="727" dirty="0"/>
          </a:p>
        </p:txBody>
      </p:sp>
      <p:sp>
        <p:nvSpPr>
          <p:cNvPr id="32" name="Text 26"/>
          <p:cNvSpPr/>
          <p:nvPr/>
        </p:nvSpPr>
        <p:spPr>
          <a:xfrm>
            <a:off x="6172200" y="2662414"/>
            <a:ext cx="22288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FF4444"/>
                </a:solidFill>
              </a:rPr>
              <a:t>Weaknesses</a:t>
            </a:r>
            <a:endParaRPr lang="en-US" sz="584" dirty="0"/>
          </a:p>
        </p:txBody>
      </p:sp>
      <p:sp>
        <p:nvSpPr>
          <p:cNvPr id="33" name="Text 27"/>
          <p:cNvSpPr/>
          <p:nvPr/>
        </p:nvSpPr>
        <p:spPr>
          <a:xfrm>
            <a:off x="6172200" y="2807075"/>
            <a:ext cx="22288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Manual processes, unscalable human capital, high hourly costs.</a:t>
            </a:r>
            <a:endParaRPr lang="en-US" sz="727" dirty="0"/>
          </a:p>
        </p:txBody>
      </p:sp>
      <p:sp>
        <p:nvSpPr>
          <p:cNvPr id="34" name="Shape 28"/>
          <p:cNvSpPr/>
          <p:nvPr/>
        </p:nvSpPr>
        <p:spPr>
          <a:xfrm>
            <a:off x="571500" y="3555104"/>
            <a:ext cx="8001000" cy="1159771"/>
          </a:xfrm>
          <a:prstGeom prst="rect">
            <a:avLst/>
          </a:prstGeom>
          <a:solidFill>
            <a:srgbClr val="0F1115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571500" y="3555104"/>
            <a:ext cx="800100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0"/>
          <p:cNvSpPr/>
          <p:nvPr/>
        </p:nvSpPr>
        <p:spPr>
          <a:xfrm>
            <a:off x="8565356" y="3555104"/>
            <a:ext cx="7144" cy="1159771"/>
          </a:xfrm>
          <a:prstGeom prst="rect">
            <a:avLst/>
          </a:prstGeom>
          <a:solidFill>
            <a:srgbClr val="CCFA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1"/>
          <p:cNvSpPr/>
          <p:nvPr/>
        </p:nvSpPr>
        <p:spPr>
          <a:xfrm>
            <a:off x="571500" y="4707731"/>
            <a:ext cx="8001000" cy="7144"/>
          </a:xfrm>
          <a:prstGeom prst="rect">
            <a:avLst/>
          </a:prstGeom>
          <a:solidFill>
            <a:srgbClr val="CCFA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2"/>
          <p:cNvSpPr/>
          <p:nvPr/>
        </p:nvSpPr>
        <p:spPr>
          <a:xfrm>
            <a:off x="571500" y="3555104"/>
            <a:ext cx="7144" cy="1159771"/>
          </a:xfrm>
          <a:prstGeom prst="rect">
            <a:avLst/>
          </a:prstGeom>
          <a:solidFill>
            <a:srgbClr val="CCFA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3"/>
          <p:cNvSpPr/>
          <p:nvPr/>
        </p:nvSpPr>
        <p:spPr>
          <a:xfrm>
            <a:off x="700088" y="3705123"/>
            <a:ext cx="77438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00E5FF"/>
                </a:solidFill>
              </a:rPr>
              <a:t>The GridAgent Advantage</a:t>
            </a:r>
            <a:endParaRPr lang="en-US" sz="727" dirty="0"/>
          </a:p>
        </p:txBody>
      </p:sp>
      <p:sp>
        <p:nvSpPr>
          <p:cNvPr id="40" name="Text 34"/>
          <p:cNvSpPr/>
          <p:nvPr/>
        </p:nvSpPr>
        <p:spPr>
          <a:xfrm>
            <a:off x="700088" y="3983729"/>
            <a:ext cx="17752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End-to-End Platform</a:t>
            </a:r>
            <a:endParaRPr lang="en-US" sz="834" dirty="0"/>
          </a:p>
        </p:txBody>
      </p:sp>
      <p:sp>
        <p:nvSpPr>
          <p:cNvPr id="41" name="Text 35"/>
          <p:cNvSpPr/>
          <p:nvPr/>
        </p:nvSpPr>
        <p:spPr>
          <a:xfrm>
            <a:off x="700088" y="4196255"/>
            <a:ext cx="1775222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A0A0A0"/>
                </a:solidFill>
              </a:rPr>
              <a:t>Comprehensive coverage across interconnection, planning, and operations vs. point solutions.</a:t>
            </a:r>
            <a:endParaRPr lang="en-US" sz="674" dirty="0"/>
          </a:p>
        </p:txBody>
      </p:sp>
      <p:sp>
        <p:nvSpPr>
          <p:cNvPr id="42" name="Text 36"/>
          <p:cNvSpPr/>
          <p:nvPr/>
        </p:nvSpPr>
        <p:spPr>
          <a:xfrm>
            <a:off x="2689622" y="3983729"/>
            <a:ext cx="17752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AI Agent Architecture</a:t>
            </a:r>
            <a:endParaRPr lang="en-US" sz="834" dirty="0"/>
          </a:p>
        </p:txBody>
      </p:sp>
      <p:sp>
        <p:nvSpPr>
          <p:cNvPr id="43" name="Text 37"/>
          <p:cNvSpPr/>
          <p:nvPr/>
        </p:nvSpPr>
        <p:spPr>
          <a:xfrm>
            <a:off x="2689622" y="4196255"/>
            <a:ext cx="1775222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A0A0A0"/>
                </a:solidFill>
              </a:rPr>
              <a:t>Autonomous task execution beyond simple automation, reducing manual work by </a:t>
            </a:r>
            <a:r>
              <a:rPr lang="en-US" sz="634" b="1" dirty="0">
                <a:solidFill>
                  <a:srgbClr val="00E5FF"/>
                </a:solidFill>
              </a:rPr>
              <a:t>50-70%</a:t>
            </a:r>
            <a:r>
              <a:rPr lang="en-US" sz="674" dirty="0">
                <a:solidFill>
                  <a:srgbClr val="A0A0A0"/>
                </a:solidFill>
              </a:rPr>
              <a:t>.</a:t>
            </a:r>
            <a:endParaRPr lang="en-US" sz="674" dirty="0"/>
          </a:p>
        </p:txBody>
      </p:sp>
      <p:sp>
        <p:nvSpPr>
          <p:cNvPr id="44" name="Text 38"/>
          <p:cNvSpPr/>
          <p:nvPr/>
        </p:nvSpPr>
        <p:spPr>
          <a:xfrm>
            <a:off x="4679156" y="3983729"/>
            <a:ext cx="17752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Real-Time Data</a:t>
            </a:r>
            <a:endParaRPr lang="en-US" sz="834" dirty="0"/>
          </a:p>
        </p:txBody>
      </p:sp>
      <p:sp>
        <p:nvSpPr>
          <p:cNvPr id="45" name="Text 39"/>
          <p:cNvSpPr/>
          <p:nvPr/>
        </p:nvSpPr>
        <p:spPr>
          <a:xfrm>
            <a:off x="4679156" y="4196255"/>
            <a:ext cx="1775222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A0A0A0"/>
                </a:solidFill>
              </a:rPr>
              <a:t>Live integration with 8 US power market data sources for up-to-the-minute accuracy.</a:t>
            </a:r>
            <a:endParaRPr lang="en-US" sz="674" dirty="0"/>
          </a:p>
        </p:txBody>
      </p:sp>
      <p:sp>
        <p:nvSpPr>
          <p:cNvPr id="46" name="Text 40"/>
          <p:cNvSpPr/>
          <p:nvPr/>
        </p:nvSpPr>
        <p:spPr>
          <a:xfrm>
            <a:off x="6668691" y="3983729"/>
            <a:ext cx="17752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Domain Expertise</a:t>
            </a:r>
            <a:endParaRPr lang="en-US" sz="834" dirty="0"/>
          </a:p>
        </p:txBody>
      </p:sp>
      <p:sp>
        <p:nvSpPr>
          <p:cNvPr id="47" name="Text 41"/>
          <p:cNvSpPr/>
          <p:nvPr/>
        </p:nvSpPr>
        <p:spPr>
          <a:xfrm>
            <a:off x="6668691" y="4196255"/>
            <a:ext cx="1775222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A0A0A0"/>
                </a:solidFill>
              </a:rPr>
              <a:t>Deep power systems knowledge embedded directly into agent reasoning models.</a:t>
            </a:r>
            <a:endParaRPr lang="en-US" sz="67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18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58185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FFFFFF"/>
                </a:solidFill>
              </a:rPr>
              <a:t>Traction &amp; Roadmap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15811"/>
            <a:ext cx="7829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</a:rPr>
              <a:t>Platform MVP Live with $500K Secured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224790"/>
            <a:ext cx="1893094" cy="88473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571500" y="1224790"/>
            <a:ext cx="1893094" cy="14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2457450" y="1224790"/>
            <a:ext cx="7144" cy="8847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71500" y="2102383"/>
            <a:ext cx="1893094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71500" y="1224790"/>
            <a:ext cx="7144" cy="8847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14375" y="1367665"/>
            <a:ext cx="15966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Product Status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714375" y="1540901"/>
            <a:ext cx="1596628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Platform MVP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714375" y="1809490"/>
            <a:ext cx="15966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Core Architecture Live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2596753" y="1224790"/>
            <a:ext cx="1896666" cy="88473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596753" y="1224790"/>
            <a:ext cx="1896666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486275" y="1224790"/>
            <a:ext cx="7144" cy="8847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2596753" y="2102383"/>
            <a:ext cx="1896666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596753" y="1224790"/>
            <a:ext cx="7144" cy="8847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743200" y="1367665"/>
            <a:ext cx="16002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Data Integration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2743200" y="1540901"/>
            <a:ext cx="16002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00E5FF"/>
                </a:solidFill>
              </a:rPr>
              <a:t>1 ISO Live</a:t>
            </a:r>
            <a:endParaRPr lang="en-US" sz="1486" dirty="0"/>
          </a:p>
        </p:txBody>
      </p:sp>
      <p:sp>
        <p:nvSpPr>
          <p:cNvPr id="22" name="Text 19"/>
          <p:cNvSpPr/>
          <p:nvPr/>
        </p:nvSpPr>
        <p:spPr>
          <a:xfrm>
            <a:off x="2743200" y="1809490"/>
            <a:ext cx="16002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Real-time Data Feed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4629150" y="1224790"/>
            <a:ext cx="1900238" cy="88473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4629150" y="1224790"/>
            <a:ext cx="1900238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522244" y="1224790"/>
            <a:ext cx="7144" cy="8847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4629150" y="2102383"/>
            <a:ext cx="1900238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4629150" y="1224790"/>
            <a:ext cx="7144" cy="8847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779169" y="1367665"/>
            <a:ext cx="160377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Pilot Program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4779169" y="1540901"/>
            <a:ext cx="1603772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00E5FF"/>
                </a:solidFill>
              </a:rPr>
              <a:t>3 Customers</a:t>
            </a:r>
            <a:endParaRPr lang="en-US" sz="1486" dirty="0"/>
          </a:p>
        </p:txBody>
      </p:sp>
      <p:sp>
        <p:nvSpPr>
          <p:cNvPr id="30" name="Text 27"/>
          <p:cNvSpPr/>
          <p:nvPr/>
        </p:nvSpPr>
        <p:spPr>
          <a:xfrm>
            <a:off x="4779169" y="1809490"/>
            <a:ext cx="16037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2 Developers, 1 Utility</a:t>
            </a:r>
            <a:endParaRPr lang="en-US" sz="727" dirty="0"/>
          </a:p>
        </p:txBody>
      </p:sp>
      <p:sp>
        <p:nvSpPr>
          <p:cNvPr id="31" name="Shape 28"/>
          <p:cNvSpPr/>
          <p:nvPr/>
        </p:nvSpPr>
        <p:spPr>
          <a:xfrm>
            <a:off x="6668691" y="1224790"/>
            <a:ext cx="1903809" cy="88473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6668691" y="1224790"/>
            <a:ext cx="1903809" cy="14288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8565356" y="1224790"/>
            <a:ext cx="7144" cy="8847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6668691" y="2102383"/>
            <a:ext cx="1903809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6668691" y="1224790"/>
            <a:ext cx="7144" cy="8847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6822281" y="1367665"/>
            <a:ext cx="16073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Contract Value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6822281" y="1540901"/>
            <a:ext cx="160734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4444"/>
                </a:solidFill>
              </a:rPr>
              <a:t>$500K</a:t>
            </a:r>
            <a:endParaRPr lang="en-US" sz="1486" dirty="0"/>
          </a:p>
        </p:txBody>
      </p:sp>
      <p:sp>
        <p:nvSpPr>
          <p:cNvPr id="38" name="Text 35"/>
          <p:cNvSpPr/>
          <p:nvPr/>
        </p:nvSpPr>
        <p:spPr>
          <a:xfrm>
            <a:off x="6822281" y="1809490"/>
            <a:ext cx="16073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Secured Revenue</a:t>
            </a:r>
            <a:endParaRPr lang="en-US" sz="727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91705"/>
            <a:ext cx="100013" cy="100013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742950" y="2373846"/>
            <a:ext cx="15292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</a:rPr>
              <a:t>18-Month Product Roadmap</a:t>
            </a:r>
            <a:endParaRPr lang="en-US" sz="727" dirty="0"/>
          </a:p>
        </p:txBody>
      </p:sp>
      <p:sp>
        <p:nvSpPr>
          <p:cNvPr id="41" name="Shape 37"/>
          <p:cNvSpPr/>
          <p:nvPr/>
        </p:nvSpPr>
        <p:spPr>
          <a:xfrm>
            <a:off x="571500" y="2623877"/>
            <a:ext cx="71438" cy="71438"/>
          </a:xfrm>
          <a:prstGeom prst="ellipse">
            <a:avLst/>
          </a:prstGeom>
          <a:solidFill>
            <a:srgbClr val="00E5FF"/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8"/>
          <p:cNvSpPr/>
          <p:nvPr/>
        </p:nvSpPr>
        <p:spPr>
          <a:xfrm>
            <a:off x="571500" y="2795327"/>
            <a:ext cx="3567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00E5FF"/>
                </a:solidFill>
              </a:rPr>
              <a:t>Q1 2026</a:t>
            </a:r>
            <a:endParaRPr lang="en-US" sz="621" dirty="0"/>
          </a:p>
        </p:txBody>
      </p:sp>
      <p:sp>
        <p:nvSpPr>
          <p:cNvPr id="43" name="Shape 39"/>
          <p:cNvSpPr/>
          <p:nvPr/>
        </p:nvSpPr>
        <p:spPr>
          <a:xfrm>
            <a:off x="985363" y="2798257"/>
            <a:ext cx="418998" cy="126802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0"/>
          <p:cNvSpPr/>
          <p:nvPr/>
        </p:nvSpPr>
        <p:spPr>
          <a:xfrm>
            <a:off x="985363" y="2798257"/>
            <a:ext cx="418998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0000"/>
                </a:solidFill>
              </a:rPr>
              <a:t>CURRENT</a:t>
            </a:r>
            <a:endParaRPr lang="en-US" sz="485" dirty="0"/>
          </a:p>
        </p:txBody>
      </p:sp>
      <p:sp>
        <p:nvSpPr>
          <p:cNvPr id="45" name="Text 41"/>
          <p:cNvSpPr/>
          <p:nvPr/>
        </p:nvSpPr>
        <p:spPr>
          <a:xfrm>
            <a:off x="571500" y="2953634"/>
            <a:ext cx="189309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Interconnection Foundation</a:t>
            </a:r>
            <a:endParaRPr lang="en-US" sz="834" dirty="0"/>
          </a:p>
        </p:txBody>
      </p:sp>
      <p:sp>
        <p:nvSpPr>
          <p:cNvPr id="46" name="Text 42"/>
          <p:cNvSpPr/>
          <p:nvPr/>
        </p:nvSpPr>
        <p:spPr>
          <a:xfrm>
            <a:off x="571500" y="3209358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00E5FF"/>
                </a:solidFill>
              </a:rPr>
              <a:t>•</a:t>
            </a:r>
            <a:endParaRPr lang="en-US" sz="674" dirty="0"/>
          </a:p>
        </p:txBody>
      </p:sp>
      <p:sp>
        <p:nvSpPr>
          <p:cNvPr id="47" name="Text 43"/>
          <p:cNvSpPr/>
          <p:nvPr/>
        </p:nvSpPr>
        <p:spPr>
          <a:xfrm>
            <a:off x="657225" y="3209358"/>
            <a:ext cx="167035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Queue analysis &amp; capacity assessment</a:t>
            </a:r>
            <a:endParaRPr lang="en-US" sz="674" dirty="0"/>
          </a:p>
        </p:txBody>
      </p:sp>
      <p:sp>
        <p:nvSpPr>
          <p:cNvPr id="48" name="Text 44"/>
          <p:cNvSpPr/>
          <p:nvPr/>
        </p:nvSpPr>
        <p:spPr>
          <a:xfrm>
            <a:off x="571500" y="3410806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00E5FF"/>
                </a:solidFill>
              </a:rPr>
              <a:t>•</a:t>
            </a:r>
            <a:endParaRPr lang="en-US" sz="674" dirty="0"/>
          </a:p>
        </p:txBody>
      </p:sp>
      <p:sp>
        <p:nvSpPr>
          <p:cNvPr id="49" name="Text 45"/>
          <p:cNvSpPr/>
          <p:nvPr/>
        </p:nvSpPr>
        <p:spPr>
          <a:xfrm>
            <a:off x="657225" y="3410806"/>
            <a:ext cx="120397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PJM TC2 Phase 1 results live</a:t>
            </a:r>
            <a:endParaRPr lang="en-US" sz="674" dirty="0"/>
          </a:p>
        </p:txBody>
      </p:sp>
      <p:sp>
        <p:nvSpPr>
          <p:cNvPr id="50" name="Text 46"/>
          <p:cNvSpPr/>
          <p:nvPr/>
        </p:nvSpPr>
        <p:spPr>
          <a:xfrm>
            <a:off x="571500" y="3612254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00E5FF"/>
                </a:solidFill>
              </a:rPr>
              <a:t>•</a:t>
            </a:r>
            <a:endParaRPr lang="en-US" sz="674" dirty="0"/>
          </a:p>
        </p:txBody>
      </p:sp>
      <p:sp>
        <p:nvSpPr>
          <p:cNvPr id="51" name="Text 47"/>
          <p:cNvSpPr/>
          <p:nvPr/>
        </p:nvSpPr>
        <p:spPr>
          <a:xfrm>
            <a:off x="657225" y="3612254"/>
            <a:ext cx="96809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Tariff navigation – PJM</a:t>
            </a:r>
            <a:endParaRPr lang="en-US" sz="674" dirty="0"/>
          </a:p>
        </p:txBody>
      </p:sp>
      <p:sp>
        <p:nvSpPr>
          <p:cNvPr id="52" name="Text 48"/>
          <p:cNvSpPr/>
          <p:nvPr/>
        </p:nvSpPr>
        <p:spPr>
          <a:xfrm>
            <a:off x="571500" y="3813702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00E5FF"/>
                </a:solidFill>
              </a:rPr>
              <a:t>•</a:t>
            </a:r>
            <a:endParaRPr lang="en-US" sz="674" dirty="0"/>
          </a:p>
        </p:txBody>
      </p:sp>
      <p:sp>
        <p:nvSpPr>
          <p:cNvPr id="53" name="Text 49"/>
          <p:cNvSpPr/>
          <p:nvPr/>
        </p:nvSpPr>
        <p:spPr>
          <a:xfrm>
            <a:off x="657225" y="3813702"/>
            <a:ext cx="141599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Tracking Transmission Upgrades</a:t>
            </a:r>
            <a:endParaRPr lang="en-US" sz="674" dirty="0"/>
          </a:p>
        </p:txBody>
      </p:sp>
      <p:sp>
        <p:nvSpPr>
          <p:cNvPr id="54" name="Shape 50"/>
          <p:cNvSpPr/>
          <p:nvPr/>
        </p:nvSpPr>
        <p:spPr>
          <a:xfrm>
            <a:off x="2607469" y="2623877"/>
            <a:ext cx="71438" cy="71438"/>
          </a:xfrm>
          <a:prstGeom prst="ellipse">
            <a:avLst/>
          </a:prstGeom>
          <a:solidFill>
            <a:srgbClr val="333333"/>
          </a:solidFill>
          <a:ln w="18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1"/>
          <p:cNvSpPr/>
          <p:nvPr/>
        </p:nvSpPr>
        <p:spPr>
          <a:xfrm>
            <a:off x="2607469" y="2795327"/>
            <a:ext cx="18930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Q2-Q3 2026</a:t>
            </a:r>
            <a:endParaRPr lang="en-US" sz="621" dirty="0"/>
          </a:p>
        </p:txBody>
      </p:sp>
      <p:sp>
        <p:nvSpPr>
          <p:cNvPr id="56" name="Text 52"/>
          <p:cNvSpPr/>
          <p:nvPr/>
        </p:nvSpPr>
        <p:spPr>
          <a:xfrm>
            <a:off x="2607469" y="2939988"/>
            <a:ext cx="189309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Workflow Automation</a:t>
            </a:r>
            <a:endParaRPr lang="en-US" sz="834" dirty="0"/>
          </a:p>
        </p:txBody>
      </p:sp>
      <p:sp>
        <p:nvSpPr>
          <p:cNvPr id="57" name="Text 53"/>
          <p:cNvSpPr/>
          <p:nvPr/>
        </p:nvSpPr>
        <p:spPr>
          <a:xfrm>
            <a:off x="2607469" y="3195712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58" name="Text 54"/>
          <p:cNvSpPr/>
          <p:nvPr/>
        </p:nvSpPr>
        <p:spPr>
          <a:xfrm>
            <a:off x="2693194" y="3195712"/>
            <a:ext cx="15172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Advanced cost allocation modeling</a:t>
            </a:r>
            <a:endParaRPr lang="en-US" sz="674" dirty="0"/>
          </a:p>
        </p:txBody>
      </p:sp>
      <p:sp>
        <p:nvSpPr>
          <p:cNvPr id="59" name="Text 55"/>
          <p:cNvSpPr/>
          <p:nvPr/>
        </p:nvSpPr>
        <p:spPr>
          <a:xfrm>
            <a:off x="2607469" y="3397160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60" name="Text 56"/>
          <p:cNvSpPr/>
          <p:nvPr/>
        </p:nvSpPr>
        <p:spPr>
          <a:xfrm>
            <a:off x="2693194" y="3397160"/>
            <a:ext cx="149901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Automated stakeholder workflows</a:t>
            </a:r>
            <a:endParaRPr lang="en-US" sz="674" dirty="0"/>
          </a:p>
        </p:txBody>
      </p:sp>
      <p:sp>
        <p:nvSpPr>
          <p:cNvPr id="61" name="Text 57"/>
          <p:cNvSpPr/>
          <p:nvPr/>
        </p:nvSpPr>
        <p:spPr>
          <a:xfrm>
            <a:off x="2607469" y="3598608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62" name="Text 58"/>
          <p:cNvSpPr/>
          <p:nvPr/>
        </p:nvSpPr>
        <p:spPr>
          <a:xfrm>
            <a:off x="2693194" y="3598608"/>
            <a:ext cx="154804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Expand to MISO, SPP, NYISO, ISONE</a:t>
            </a:r>
            <a:endParaRPr lang="en-US" sz="674" dirty="0"/>
          </a:p>
        </p:txBody>
      </p:sp>
      <p:sp>
        <p:nvSpPr>
          <p:cNvPr id="63" name="Text 59"/>
          <p:cNvSpPr/>
          <p:nvPr/>
        </p:nvSpPr>
        <p:spPr>
          <a:xfrm>
            <a:off x="2607469" y="3800056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64" name="Text 60"/>
          <p:cNvSpPr/>
          <p:nvPr/>
        </p:nvSpPr>
        <p:spPr>
          <a:xfrm>
            <a:off x="2693194" y="3800056"/>
            <a:ext cx="13998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Developer dashboard and alerts</a:t>
            </a:r>
            <a:endParaRPr lang="en-US" sz="674" dirty="0"/>
          </a:p>
        </p:txBody>
      </p:sp>
      <p:sp>
        <p:nvSpPr>
          <p:cNvPr id="65" name="Shape 61"/>
          <p:cNvSpPr/>
          <p:nvPr/>
        </p:nvSpPr>
        <p:spPr>
          <a:xfrm>
            <a:off x="4643438" y="2623877"/>
            <a:ext cx="71438" cy="71438"/>
          </a:xfrm>
          <a:prstGeom prst="ellipse">
            <a:avLst/>
          </a:prstGeom>
          <a:solidFill>
            <a:srgbClr val="333333"/>
          </a:solidFill>
          <a:ln w="18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2"/>
          <p:cNvSpPr/>
          <p:nvPr/>
        </p:nvSpPr>
        <p:spPr>
          <a:xfrm>
            <a:off x="4643438" y="2795327"/>
            <a:ext cx="18930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Q4 2026 - Q1 2027</a:t>
            </a:r>
            <a:endParaRPr lang="en-US" sz="621" dirty="0"/>
          </a:p>
        </p:txBody>
      </p:sp>
      <p:sp>
        <p:nvSpPr>
          <p:cNvPr id="67" name="Text 63"/>
          <p:cNvSpPr/>
          <p:nvPr/>
        </p:nvSpPr>
        <p:spPr>
          <a:xfrm>
            <a:off x="4643438" y="2939988"/>
            <a:ext cx="189309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Energy Prices &amp; Congestion</a:t>
            </a:r>
            <a:endParaRPr lang="en-US" sz="834" dirty="0"/>
          </a:p>
        </p:txBody>
      </p:sp>
      <p:sp>
        <p:nvSpPr>
          <p:cNvPr id="68" name="Text 64"/>
          <p:cNvSpPr/>
          <p:nvPr/>
        </p:nvSpPr>
        <p:spPr>
          <a:xfrm>
            <a:off x="4643438" y="3195712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69" name="Text 65"/>
          <p:cNvSpPr/>
          <p:nvPr/>
        </p:nvSpPr>
        <p:spPr>
          <a:xfrm>
            <a:off x="4729163" y="3195712"/>
            <a:ext cx="13016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Integrating with external APIs</a:t>
            </a:r>
            <a:endParaRPr lang="en-US" sz="674" dirty="0"/>
          </a:p>
        </p:txBody>
      </p:sp>
      <p:sp>
        <p:nvSpPr>
          <p:cNvPr id="70" name="Text 66"/>
          <p:cNvSpPr/>
          <p:nvPr/>
        </p:nvSpPr>
        <p:spPr>
          <a:xfrm>
            <a:off x="4643438" y="3397160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71" name="Text 67"/>
          <p:cNvSpPr/>
          <p:nvPr/>
        </p:nvSpPr>
        <p:spPr>
          <a:xfrm>
            <a:off x="4729163" y="3397160"/>
            <a:ext cx="119208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LMP Prices &amp; Basis Analysis</a:t>
            </a:r>
            <a:endParaRPr lang="en-US" sz="674" dirty="0"/>
          </a:p>
        </p:txBody>
      </p:sp>
      <p:sp>
        <p:nvSpPr>
          <p:cNvPr id="72" name="Text 68"/>
          <p:cNvSpPr/>
          <p:nvPr/>
        </p:nvSpPr>
        <p:spPr>
          <a:xfrm>
            <a:off x="4643438" y="3598608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73" name="Text 69"/>
          <p:cNvSpPr/>
          <p:nvPr/>
        </p:nvSpPr>
        <p:spPr>
          <a:xfrm>
            <a:off x="4729163" y="3598608"/>
            <a:ext cx="161685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Curtailment Analysis &amp; Due Diligence</a:t>
            </a:r>
            <a:endParaRPr lang="en-US" sz="674" dirty="0"/>
          </a:p>
        </p:txBody>
      </p:sp>
      <p:sp>
        <p:nvSpPr>
          <p:cNvPr id="74" name="Text 70"/>
          <p:cNvSpPr/>
          <p:nvPr/>
        </p:nvSpPr>
        <p:spPr>
          <a:xfrm>
            <a:off x="4643438" y="3800056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75" name="Text 71"/>
          <p:cNvSpPr/>
          <p:nvPr/>
        </p:nvSpPr>
        <p:spPr>
          <a:xfrm>
            <a:off x="4729163" y="3800056"/>
            <a:ext cx="13654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Expand to ERCOT, CAISO, WECC</a:t>
            </a:r>
            <a:endParaRPr lang="en-US" sz="674" dirty="0"/>
          </a:p>
        </p:txBody>
      </p:sp>
      <p:sp>
        <p:nvSpPr>
          <p:cNvPr id="76" name="Shape 72"/>
          <p:cNvSpPr/>
          <p:nvPr/>
        </p:nvSpPr>
        <p:spPr>
          <a:xfrm>
            <a:off x="6679406" y="2623877"/>
            <a:ext cx="71438" cy="71438"/>
          </a:xfrm>
          <a:prstGeom prst="ellipse">
            <a:avLst/>
          </a:prstGeom>
          <a:solidFill>
            <a:srgbClr val="333333"/>
          </a:solidFill>
          <a:ln w="18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3"/>
          <p:cNvSpPr/>
          <p:nvPr/>
        </p:nvSpPr>
        <p:spPr>
          <a:xfrm>
            <a:off x="6679406" y="2795327"/>
            <a:ext cx="18930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Q2-Q3 2027</a:t>
            </a:r>
            <a:endParaRPr lang="en-US" sz="621" dirty="0"/>
          </a:p>
        </p:txBody>
      </p:sp>
      <p:sp>
        <p:nvSpPr>
          <p:cNvPr id="78" name="Text 74"/>
          <p:cNvSpPr/>
          <p:nvPr/>
        </p:nvSpPr>
        <p:spPr>
          <a:xfrm>
            <a:off x="6679406" y="2939988"/>
            <a:ext cx="189309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Advanced Analytics</a:t>
            </a:r>
            <a:endParaRPr lang="en-US" sz="834" dirty="0"/>
          </a:p>
        </p:txBody>
      </p:sp>
      <p:sp>
        <p:nvSpPr>
          <p:cNvPr id="79" name="Text 75"/>
          <p:cNvSpPr/>
          <p:nvPr/>
        </p:nvSpPr>
        <p:spPr>
          <a:xfrm>
            <a:off x="6679406" y="3195712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80" name="Text 76"/>
          <p:cNvSpPr/>
          <p:nvPr/>
        </p:nvSpPr>
        <p:spPr>
          <a:xfrm>
            <a:off x="6765131" y="3195712"/>
            <a:ext cx="1401598" cy="256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Cloud Based Power Flow for Site Screening</a:t>
            </a:r>
            <a:endParaRPr lang="en-US" sz="674" dirty="0"/>
          </a:p>
        </p:txBody>
      </p:sp>
      <p:sp>
        <p:nvSpPr>
          <p:cNvPr id="81" name="Text 77"/>
          <p:cNvSpPr/>
          <p:nvPr/>
        </p:nvSpPr>
        <p:spPr>
          <a:xfrm>
            <a:off x="6679406" y="3527171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82" name="Text 78"/>
          <p:cNvSpPr/>
          <p:nvPr/>
        </p:nvSpPr>
        <p:spPr>
          <a:xfrm>
            <a:off x="6765131" y="3527171"/>
            <a:ext cx="16099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Future Projects &amp; Scenario Modelling</a:t>
            </a:r>
            <a:endParaRPr lang="en-US" sz="674" dirty="0"/>
          </a:p>
        </p:txBody>
      </p:sp>
      <p:sp>
        <p:nvSpPr>
          <p:cNvPr id="83" name="Text 79"/>
          <p:cNvSpPr/>
          <p:nvPr/>
        </p:nvSpPr>
        <p:spPr>
          <a:xfrm>
            <a:off x="6679406" y="3728619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84" name="Text 80"/>
          <p:cNvSpPr/>
          <p:nvPr/>
        </p:nvSpPr>
        <p:spPr>
          <a:xfrm>
            <a:off x="6765131" y="3728619"/>
            <a:ext cx="13598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Data room integration for M&amp;A</a:t>
            </a:r>
            <a:endParaRPr lang="en-US" sz="674" dirty="0"/>
          </a:p>
        </p:txBody>
      </p:sp>
      <p:sp>
        <p:nvSpPr>
          <p:cNvPr id="85" name="Text 81"/>
          <p:cNvSpPr/>
          <p:nvPr/>
        </p:nvSpPr>
        <p:spPr>
          <a:xfrm>
            <a:off x="6679406" y="3930067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•</a:t>
            </a:r>
            <a:endParaRPr lang="en-US" sz="674" dirty="0"/>
          </a:p>
        </p:txBody>
      </p:sp>
      <p:sp>
        <p:nvSpPr>
          <p:cNvPr id="86" name="Text 82"/>
          <p:cNvSpPr/>
          <p:nvPr/>
        </p:nvSpPr>
        <p:spPr>
          <a:xfrm>
            <a:off x="6765131" y="3930067"/>
            <a:ext cx="15430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Advanced Visualization (Geospatial)</a:t>
            </a:r>
            <a:endParaRPr lang="en-US" sz="67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18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58185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FFFFFF"/>
                </a:solidFill>
              </a:rPr>
              <a:t>Why GridAgent Will Win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15811"/>
            <a:ext cx="7829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</a:rPr>
              <a:t>Technical Differentiation Meets Perfect Market Timing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096203"/>
            <a:ext cx="3957638" cy="131258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57225" y="1181928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</a:rPr>
              <a:t>01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939096" y="1211396"/>
            <a:ext cx="18182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Technical Differentiation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751991" y="1523042"/>
            <a:ext cx="347278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AI Layer Agent:</a:t>
            </a:r>
            <a:r>
              <a:rPr lang="en-US" sz="727" dirty="0">
                <a:solidFill>
                  <a:srgbClr val="CCCCCC"/>
                </a:solidFill>
              </a:rPr>
              <a:t> Native intelligence orchestration layer for Power Markets.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51991" y="1705905"/>
            <a:ext cx="369142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Real-Time Data:</a:t>
            </a:r>
            <a:r>
              <a:rPr lang="en-US" sz="727" dirty="0">
                <a:solidFill>
                  <a:srgbClr val="CCCCCC"/>
                </a:solidFill>
              </a:rPr>
              <a:t> Integration with comprehensive US power market data sources.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751991" y="2028769"/>
            <a:ext cx="369142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Embedded Expertise:</a:t>
            </a:r>
            <a:r>
              <a:rPr lang="en-US" sz="727" dirty="0">
                <a:solidFill>
                  <a:srgbClr val="CCCCCC"/>
                </a:solidFill>
              </a:rPr>
              <a:t> Years of domain knowledge built directly into agent reasoning.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4614863" y="1096203"/>
            <a:ext cx="3957638" cy="129829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700588" y="1181928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</a:rPr>
              <a:t>02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982459" y="1211396"/>
            <a:ext cx="10014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Market Timing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795354" y="1523042"/>
            <a:ext cx="330066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"Goldilocks" Moment:</a:t>
            </a:r>
            <a:r>
              <a:rPr lang="en-US" sz="727" dirty="0">
                <a:solidFill>
                  <a:srgbClr val="CCCCCC"/>
                </a:solidFill>
              </a:rPr>
              <a:t> Convergence of urgency, budget, and maturity.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795354" y="1705905"/>
            <a:ext cx="348695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Interconnection Crisis:</a:t>
            </a:r>
            <a:r>
              <a:rPr lang="en-US" sz="727" dirty="0">
                <a:solidFill>
                  <a:srgbClr val="CCCCCC"/>
                </a:solidFill>
              </a:rPr>
              <a:t> Demands immediate solutions for 2.2 TW backlog.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795354" y="1888768"/>
            <a:ext cx="352728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Digital Readiness:</a:t>
            </a:r>
            <a:r>
              <a:rPr lang="en-US" sz="727" dirty="0">
                <a:solidFill>
                  <a:srgbClr val="CCCCCC"/>
                </a:solidFill>
              </a:rPr>
              <a:t> Utilities increasingly open to capitalized software spend.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571500" y="2480221"/>
            <a:ext cx="3957638" cy="1032579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57225" y="2565946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</a:rPr>
              <a:t>03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939096" y="2595414"/>
            <a:ext cx="17097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Go-to-Market Advantage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751991" y="2907060"/>
            <a:ext cx="359378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Developer Wedge:</a:t>
            </a:r>
            <a:r>
              <a:rPr lang="en-US" sz="727" dirty="0">
                <a:solidFill>
                  <a:srgbClr val="CCCCCC"/>
                </a:solidFill>
              </a:rPr>
              <a:t> Land with developers for fast validation and case studies.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751991" y="3089923"/>
            <a:ext cx="36603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Enterprise Expansion:</a:t>
            </a:r>
            <a:r>
              <a:rPr lang="en-US" sz="727" dirty="0">
                <a:solidFill>
                  <a:srgbClr val="CCCCCC"/>
                </a:solidFill>
              </a:rPr>
              <a:t> Leverage proven ROI to penetrate enterprise accounts.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751991" y="3272786"/>
            <a:ext cx="312173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Cross-Sell:</a:t>
            </a:r>
            <a:r>
              <a:rPr lang="en-US" sz="727" dirty="0">
                <a:solidFill>
                  <a:srgbClr val="CCCCCC"/>
                </a:solidFill>
              </a:rPr>
              <a:t> Expand from Interconnection to planning &amp; operations.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4614863" y="2480221"/>
            <a:ext cx="3957638" cy="1032579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700588" y="2565946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E5FF"/>
                </a:solidFill>
              </a:rPr>
              <a:t>04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4982459" y="2595414"/>
            <a:ext cx="12096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Team &amp; Execution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4795354" y="2907060"/>
            <a:ext cx="359969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Deep Expertise:</a:t>
            </a:r>
            <a:r>
              <a:rPr lang="en-US" sz="727" dirty="0">
                <a:solidFill>
                  <a:srgbClr val="CCCCCC"/>
                </a:solidFill>
              </a:rPr>
              <a:t> Rare combination of AI/ML and power systems engineering.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795354" y="3089923"/>
            <a:ext cx="29895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Proven Navigation:</a:t>
            </a:r>
            <a:r>
              <a:rPr lang="en-US" sz="727" dirty="0">
                <a:solidFill>
                  <a:srgbClr val="CCCCCC"/>
                </a:solidFill>
              </a:rPr>
              <a:t> Ability to handle complex consulting cycles.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795354" y="3272786"/>
            <a:ext cx="320391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Capital Efficiency:</a:t>
            </a:r>
            <a:r>
              <a:rPr lang="en-US" sz="727" dirty="0">
                <a:solidFill>
                  <a:srgbClr val="CCCCCC"/>
                </a:solidFill>
              </a:rPr>
              <a:t> Clear path to profitability with disciplined growth.</a:t>
            </a:r>
            <a:endParaRPr lang="en-US" sz="683" dirty="0"/>
          </a:p>
        </p:txBody>
      </p:sp>
      <p:sp>
        <p:nvSpPr>
          <p:cNvPr id="31" name="Shape 28"/>
          <p:cNvSpPr/>
          <p:nvPr/>
        </p:nvSpPr>
        <p:spPr>
          <a:xfrm>
            <a:off x="571500" y="3584237"/>
            <a:ext cx="8001000" cy="520043"/>
          </a:xfrm>
          <a:prstGeom prst="rect">
            <a:avLst/>
          </a:prstGeom>
          <a:solidFill>
            <a:srgbClr val="0F111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585788" y="3598525"/>
            <a:ext cx="7972425" cy="491468"/>
          </a:xfrm>
          <a:prstGeom prst="rect">
            <a:avLst/>
          </a:prstGeom>
          <a:solidFill>
            <a:srgbClr val="0F111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714375" y="3776393"/>
            <a:ext cx="641040" cy="135731"/>
          </a:xfrm>
          <a:prstGeom prst="rect">
            <a:avLst/>
          </a:prstGeom>
          <a:noFill/>
          <a:ln/>
        </p:spPr>
        <p:txBody>
          <a:bodyPr wrap="none" lIns="0" tIns="0" rIns="102108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E5FF"/>
                </a:solidFill>
              </a:rPr>
              <a:t>The Vision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1469715" y="3684250"/>
            <a:ext cx="695991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GridAgent will become the </a:t>
            </a:r>
            <a:r>
              <a:rPr lang="en-US" sz="784" b="1" dirty="0">
                <a:solidFill>
                  <a:srgbClr val="FFFFFF"/>
                </a:solidFill>
              </a:rPr>
              <a:t>first AI Powered Intelligent automation layer</a:t>
            </a:r>
            <a:r>
              <a:rPr lang="en-US" sz="834" dirty="0">
                <a:solidFill>
                  <a:srgbClr val="FFFFFF"/>
                </a:solidFill>
              </a:rPr>
              <a:t> powering the modern US power grid, enabling the energy transition and supporting economic growth.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18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28575" cy="581853"/>
          </a:xfrm>
          <a:prstGeom prst="rect">
            <a:avLst/>
          </a:prstGeom>
          <a:solidFill>
            <a:srgbClr val="A0A0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7829550" cy="3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kern="0" spc="-1" dirty="0">
                <a:solidFill>
                  <a:srgbClr val="FFFFFF"/>
                </a:solidFill>
              </a:rPr>
              <a:t>Appendix: Acronym Guide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15811"/>
            <a:ext cx="78295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A0A0A0"/>
                </a:solidFill>
              </a:rPr>
              <a:t>Industry Terminology Reference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13207"/>
            <a:ext cx="16073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7959" y="1367665"/>
            <a:ext cx="172822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Industry Terminology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571500" y="1930236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IOU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1714500" y="1958811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Investor-Owned Utility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1714500" y="2127386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e.g., PG&amp;E, Duke Energy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571500" y="2438837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ISO/RTO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1714500" y="2451339"/>
            <a:ext cx="2571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0D0D0"/>
                </a:solidFill>
              </a:rPr>
              <a:t>Independent System Operator / Regional Transmission Org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571500" y="2942806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FERC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1714500" y="2955308"/>
            <a:ext cx="2571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0D0D0"/>
                </a:solidFill>
              </a:rPr>
              <a:t>Federal Energy Regulatory Commission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571500" y="3289278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NERC</a:t>
            </a:r>
            <a:endParaRPr lang="en-US" sz="885" dirty="0"/>
          </a:p>
        </p:txBody>
      </p:sp>
      <p:sp>
        <p:nvSpPr>
          <p:cNvPr id="17" name="Text 13"/>
          <p:cNvSpPr/>
          <p:nvPr/>
        </p:nvSpPr>
        <p:spPr>
          <a:xfrm>
            <a:off x="1714500" y="3301780"/>
            <a:ext cx="2571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0D0D0"/>
                </a:solidFill>
              </a:rPr>
              <a:t>North American Electric Reliability Corporation</a:t>
            </a:r>
            <a:endParaRPr lang="en-US" sz="834" dirty="0"/>
          </a:p>
        </p:txBody>
      </p:sp>
      <p:sp>
        <p:nvSpPr>
          <p:cNvPr id="18" name="Text 14"/>
          <p:cNvSpPr/>
          <p:nvPr/>
        </p:nvSpPr>
        <p:spPr>
          <a:xfrm>
            <a:off x="571500" y="3635750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DER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1714500" y="3664325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Distributed Energy Resources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1714500" y="3832901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Solar, Battery, EV</a:t>
            </a:r>
            <a:endParaRPr lang="en-US" sz="727" dirty="0"/>
          </a:p>
        </p:txBody>
      </p:sp>
      <p:sp>
        <p:nvSpPr>
          <p:cNvPr id="21" name="Text 17"/>
          <p:cNvSpPr/>
          <p:nvPr/>
        </p:nvSpPr>
        <p:spPr>
          <a:xfrm>
            <a:off x="571500" y="4144352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DLR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1714500" y="4172927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Dynamic Line Rating</a:t>
            </a:r>
            <a:endParaRPr lang="en-US" sz="727" dirty="0"/>
          </a:p>
        </p:txBody>
      </p:sp>
      <p:sp>
        <p:nvSpPr>
          <p:cNvPr id="23" name="Text 19"/>
          <p:cNvSpPr/>
          <p:nvPr/>
        </p:nvSpPr>
        <p:spPr>
          <a:xfrm>
            <a:off x="1714500" y="4341502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Real-time capacity monitoring</a:t>
            </a:r>
            <a:endParaRPr lang="en-US" sz="727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413207"/>
            <a:ext cx="160734" cy="14287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04209" y="1367665"/>
            <a:ext cx="16665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Business &amp; Technical</a:t>
            </a:r>
            <a:endParaRPr lang="en-US" sz="1269" dirty="0"/>
          </a:p>
        </p:txBody>
      </p:sp>
      <p:sp>
        <p:nvSpPr>
          <p:cNvPr id="26" name="Text 21"/>
          <p:cNvSpPr/>
          <p:nvPr/>
        </p:nvSpPr>
        <p:spPr>
          <a:xfrm>
            <a:off x="4857750" y="1930236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GW / TW</a:t>
            </a:r>
            <a:endParaRPr lang="en-US" sz="885" dirty="0"/>
          </a:p>
        </p:txBody>
      </p:sp>
      <p:sp>
        <p:nvSpPr>
          <p:cNvPr id="27" name="Text 22"/>
          <p:cNvSpPr/>
          <p:nvPr/>
        </p:nvSpPr>
        <p:spPr>
          <a:xfrm>
            <a:off x="6000750" y="1958811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Gigawatt / Terawatt</a:t>
            </a:r>
            <a:endParaRPr lang="en-US" sz="727" dirty="0"/>
          </a:p>
        </p:txBody>
      </p:sp>
      <p:sp>
        <p:nvSpPr>
          <p:cNvPr id="28" name="Text 23"/>
          <p:cNvSpPr/>
          <p:nvPr/>
        </p:nvSpPr>
        <p:spPr>
          <a:xfrm>
            <a:off x="6000750" y="2127386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10⁹ watts / 10¹² watts</a:t>
            </a:r>
            <a:endParaRPr lang="en-US" sz="727" dirty="0"/>
          </a:p>
        </p:txBody>
      </p:sp>
      <p:sp>
        <p:nvSpPr>
          <p:cNvPr id="29" name="Text 24"/>
          <p:cNvSpPr/>
          <p:nvPr/>
        </p:nvSpPr>
        <p:spPr>
          <a:xfrm>
            <a:off x="4857750" y="2438837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CapEx</a:t>
            </a:r>
            <a:endParaRPr lang="en-US" sz="885" dirty="0"/>
          </a:p>
        </p:txBody>
      </p:sp>
      <p:sp>
        <p:nvSpPr>
          <p:cNvPr id="30" name="Text 25"/>
          <p:cNvSpPr/>
          <p:nvPr/>
        </p:nvSpPr>
        <p:spPr>
          <a:xfrm>
            <a:off x="6000750" y="2467412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Capital Expenditure</a:t>
            </a:r>
            <a:endParaRPr lang="en-US" sz="727" dirty="0"/>
          </a:p>
        </p:txBody>
      </p:sp>
      <p:sp>
        <p:nvSpPr>
          <p:cNvPr id="31" name="Text 26"/>
          <p:cNvSpPr/>
          <p:nvPr/>
        </p:nvSpPr>
        <p:spPr>
          <a:xfrm>
            <a:off x="6000750" y="2635988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Long-term asset investment</a:t>
            </a:r>
            <a:endParaRPr lang="en-US" sz="727" dirty="0"/>
          </a:p>
        </p:txBody>
      </p:sp>
      <p:sp>
        <p:nvSpPr>
          <p:cNvPr id="32" name="Text 27"/>
          <p:cNvSpPr/>
          <p:nvPr/>
        </p:nvSpPr>
        <p:spPr>
          <a:xfrm>
            <a:off x="4857750" y="2947439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OpEx</a:t>
            </a:r>
            <a:endParaRPr lang="en-US" sz="885" dirty="0"/>
          </a:p>
        </p:txBody>
      </p:sp>
      <p:sp>
        <p:nvSpPr>
          <p:cNvPr id="33" name="Text 28"/>
          <p:cNvSpPr/>
          <p:nvPr/>
        </p:nvSpPr>
        <p:spPr>
          <a:xfrm>
            <a:off x="6000750" y="2976014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Operating Expenditure</a:t>
            </a:r>
            <a:endParaRPr lang="en-US" sz="727" dirty="0"/>
          </a:p>
        </p:txBody>
      </p:sp>
      <p:sp>
        <p:nvSpPr>
          <p:cNvPr id="34" name="Text 29"/>
          <p:cNvSpPr/>
          <p:nvPr/>
        </p:nvSpPr>
        <p:spPr>
          <a:xfrm>
            <a:off x="6000750" y="3144589"/>
            <a:ext cx="25717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Day-to-day expenses</a:t>
            </a:r>
            <a:endParaRPr lang="en-US" sz="727" dirty="0"/>
          </a:p>
        </p:txBody>
      </p:sp>
      <p:sp>
        <p:nvSpPr>
          <p:cNvPr id="35" name="Text 30"/>
          <p:cNvSpPr/>
          <p:nvPr/>
        </p:nvSpPr>
        <p:spPr>
          <a:xfrm>
            <a:off x="4857750" y="3456040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SaaS</a:t>
            </a:r>
            <a:endParaRPr lang="en-US" sz="885" dirty="0"/>
          </a:p>
        </p:txBody>
      </p:sp>
      <p:sp>
        <p:nvSpPr>
          <p:cNvPr id="36" name="Text 31"/>
          <p:cNvSpPr/>
          <p:nvPr/>
        </p:nvSpPr>
        <p:spPr>
          <a:xfrm>
            <a:off x="6000750" y="3468542"/>
            <a:ext cx="2571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0D0D0"/>
                </a:solidFill>
              </a:rPr>
              <a:t>Software as a Service</a:t>
            </a:r>
            <a:endParaRPr lang="en-US" sz="834" dirty="0"/>
          </a:p>
        </p:txBody>
      </p:sp>
      <p:sp>
        <p:nvSpPr>
          <p:cNvPr id="37" name="Text 32"/>
          <p:cNvSpPr/>
          <p:nvPr/>
        </p:nvSpPr>
        <p:spPr>
          <a:xfrm>
            <a:off x="4857750" y="3802512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ACV</a:t>
            </a:r>
            <a:endParaRPr lang="en-US" sz="885" dirty="0"/>
          </a:p>
        </p:txBody>
      </p:sp>
      <p:sp>
        <p:nvSpPr>
          <p:cNvPr id="38" name="Text 33"/>
          <p:cNvSpPr/>
          <p:nvPr/>
        </p:nvSpPr>
        <p:spPr>
          <a:xfrm>
            <a:off x="6000750" y="3815014"/>
            <a:ext cx="2571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0D0D0"/>
                </a:solidFill>
              </a:rPr>
              <a:t>Annual Contract Value</a:t>
            </a:r>
            <a:endParaRPr lang="en-US" sz="834" dirty="0"/>
          </a:p>
        </p:txBody>
      </p:sp>
      <p:sp>
        <p:nvSpPr>
          <p:cNvPr id="39" name="Text 34"/>
          <p:cNvSpPr/>
          <p:nvPr/>
        </p:nvSpPr>
        <p:spPr>
          <a:xfrm>
            <a:off x="4857750" y="4148984"/>
            <a:ext cx="1000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E5FF"/>
                </a:solidFill>
              </a:rPr>
              <a:t>CAGR</a:t>
            </a:r>
            <a:endParaRPr lang="en-US" sz="885" dirty="0"/>
          </a:p>
        </p:txBody>
      </p:sp>
      <p:sp>
        <p:nvSpPr>
          <p:cNvPr id="40" name="Text 35"/>
          <p:cNvSpPr/>
          <p:nvPr/>
        </p:nvSpPr>
        <p:spPr>
          <a:xfrm>
            <a:off x="6000750" y="4161486"/>
            <a:ext cx="25717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0D0D0"/>
                </a:solidFill>
              </a:rPr>
              <a:t>Compound Annual Growth Rate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1478</Words>
  <Application>Microsoft Office PowerPoint</Application>
  <PresentationFormat>On-screen Show (16:9)</PresentationFormat>
  <Paragraphs>311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Agrawal, Amit</cp:lastModifiedBy>
  <cp:revision>2</cp:revision>
  <dcterms:created xsi:type="dcterms:W3CDTF">2026-02-05T20:14:32Z</dcterms:created>
  <dcterms:modified xsi:type="dcterms:W3CDTF">2026-02-05T20:15:07Z</dcterms:modified>
</cp:coreProperties>
</file>